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6"/>
  </p:notesMasterIdLst>
  <p:sldIdLst>
    <p:sldId id="256" r:id="rId2"/>
    <p:sldId id="349" r:id="rId3"/>
    <p:sldId id="298" r:id="rId4"/>
    <p:sldId id="350" r:id="rId5"/>
  </p:sldIdLst>
  <p:sldSz cx="9144000" cy="5143500" type="screen16x9"/>
  <p:notesSz cx="6858000" cy="9144000"/>
  <p:embeddedFontLst>
    <p:embeddedFont>
      <p:font typeface="Exo 2" panose="020B0604020202020204" charset="0"/>
      <p:regular r:id="rId7"/>
      <p:bold r:id="rId8"/>
      <p:italic r:id="rId9"/>
      <p:boldItalic r:id="rId10"/>
    </p:embeddedFont>
    <p:embeddedFont>
      <p:font typeface="Raleway" panose="020B0604020202020204" charset="0"/>
      <p:regular r:id="rId11"/>
      <p:bold r:id="rId12"/>
      <p:italic r:id="rId13"/>
      <p:boldItalic r:id="rId14"/>
    </p:embeddedFont>
    <p:embeddedFont>
      <p:font typeface="Hacen Casablanca" panose="020B0604020202020204" charset="-78"/>
      <p:regular r:id="rId15"/>
    </p:embeddedFont>
    <p:embeddedFont>
      <p:font typeface="Janna LT" panose="01000000000000000000" pitchFamily="2" charset="-78"/>
      <p:regular r:id="rId16"/>
    </p:embeddedFont>
    <p:embeddedFont>
      <p:font typeface="Exo 2 ExtraBold" panose="020B0604020202020204" charset="0"/>
      <p:bold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C2E5"/>
    <a:srgbClr val="3BA0D8"/>
    <a:srgbClr val="006666"/>
    <a:srgbClr val="595959"/>
    <a:srgbClr val="238C8F"/>
    <a:srgbClr val="71B1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C069A-F128-4123-B749-E4AC610A060D}" v="56" dt="2023-08-22T10:28:42.780"/>
  </p1510:revLst>
</p1510:revInfo>
</file>

<file path=ppt/tableStyles.xml><?xml version="1.0" encoding="utf-8"?>
<a:tblStyleLst xmlns:a="http://schemas.openxmlformats.org/drawingml/2006/main" def="{AEBA9E80-4697-4D0B-BF8A-9444AFE1D11E}">
  <a:tblStyle styleId="{AEBA9E80-4697-4D0B-BF8A-9444AFE1D1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BB6936-896A-453C-BF1C-AF00902E67E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64" autoAdjust="0"/>
  </p:normalViewPr>
  <p:slideViewPr>
    <p:cSldViewPr snapToGrid="0">
      <p:cViewPr varScale="1">
        <p:scale>
          <a:sx n="151" d="100"/>
          <a:sy n="151" d="100"/>
        </p:scale>
        <p:origin x="108" y="10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23" Type="http://schemas.microsoft.com/office/2015/10/relationships/revisionInfo" Target="revisionInfo.xml"/><Relationship Id="rId10" Type="http://schemas.openxmlformats.org/officeDocument/2006/relationships/font" Target="fonts/font4.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778053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2c05e9c76f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2c05e9c76f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4948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rot="5400000">
            <a:off x="5186375" y="-1651450"/>
            <a:ext cx="5516000" cy="3480375"/>
            <a:chOff x="1052575" y="238400"/>
            <a:chExt cx="5516000" cy="3480375"/>
          </a:xfrm>
        </p:grpSpPr>
        <p:sp>
          <p:nvSpPr>
            <p:cNvPr id="10" name="Google Shape;10;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2;p2"/>
          <p:cNvSpPr/>
          <p:nvPr/>
        </p:nvSpPr>
        <p:spPr>
          <a:xfrm>
            <a:off x="7822250" y="4608500"/>
            <a:ext cx="13218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txBox="1">
            <a:spLocks noGrp="1"/>
          </p:cNvSpPr>
          <p:nvPr>
            <p:ph type="ctrTitle"/>
          </p:nvPr>
        </p:nvSpPr>
        <p:spPr>
          <a:xfrm>
            <a:off x="715170" y="535000"/>
            <a:ext cx="5517900" cy="2382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800" b="0">
                <a:latin typeface="Exo 2 ExtraBold"/>
                <a:ea typeface="Exo 2 ExtraBold"/>
                <a:cs typeface="Exo 2 ExtraBold"/>
                <a:sym typeface="Exo 2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44" name="Google Shape;44;p2"/>
          <p:cNvSpPr txBox="1">
            <a:spLocks noGrp="1"/>
          </p:cNvSpPr>
          <p:nvPr>
            <p:ph type="subTitle" idx="1"/>
          </p:nvPr>
        </p:nvSpPr>
        <p:spPr>
          <a:xfrm>
            <a:off x="715100" y="2908025"/>
            <a:ext cx="5517900" cy="409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atin typeface="Exo 2"/>
                <a:ea typeface="Exo 2"/>
                <a:cs typeface="Exo 2"/>
                <a:sym typeface="Exo 2"/>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45" name="Google Shape;45;p2"/>
          <p:cNvGrpSpPr/>
          <p:nvPr/>
        </p:nvGrpSpPr>
        <p:grpSpPr>
          <a:xfrm rot="142369" flipH="1">
            <a:off x="-590321" y="3661794"/>
            <a:ext cx="5515765" cy="3480227"/>
            <a:chOff x="1052575" y="238400"/>
            <a:chExt cx="5516000" cy="3480375"/>
          </a:xfrm>
        </p:grpSpPr>
        <p:sp>
          <p:nvSpPr>
            <p:cNvPr id="46" name="Google Shape;4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2"/>
          <p:cNvSpPr>
            <a:spLocks noGrp="1"/>
          </p:cNvSpPr>
          <p:nvPr>
            <p:ph type="pic" idx="2"/>
          </p:nvPr>
        </p:nvSpPr>
        <p:spPr>
          <a:xfrm>
            <a:off x="6607200" y="366350"/>
            <a:ext cx="2536800" cy="42423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4"/>
        <p:cNvGrpSpPr/>
        <p:nvPr/>
      </p:nvGrpSpPr>
      <p:grpSpPr>
        <a:xfrm>
          <a:off x="0" y="0"/>
          <a:ext cx="0" cy="0"/>
          <a:chOff x="0" y="0"/>
          <a:chExt cx="0" cy="0"/>
        </a:xfrm>
      </p:grpSpPr>
      <p:sp>
        <p:nvSpPr>
          <p:cNvPr id="305" name="Google Shape;305;p8"/>
          <p:cNvSpPr txBox="1">
            <a:spLocks noGrp="1"/>
          </p:cNvSpPr>
          <p:nvPr>
            <p:ph type="title"/>
          </p:nvPr>
        </p:nvSpPr>
        <p:spPr>
          <a:xfrm>
            <a:off x="715100" y="1593500"/>
            <a:ext cx="4891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06" name="Google Shape;306;p8"/>
          <p:cNvGrpSpPr/>
          <p:nvPr/>
        </p:nvGrpSpPr>
        <p:grpSpPr>
          <a:xfrm rot="8659666" flipH="1">
            <a:off x="-1924641" y="-1625129"/>
            <a:ext cx="5515550" cy="3480091"/>
            <a:chOff x="1052575" y="238400"/>
            <a:chExt cx="5516000" cy="3480375"/>
          </a:xfrm>
        </p:grpSpPr>
        <p:sp>
          <p:nvSpPr>
            <p:cNvPr id="307" name="Google Shape;307;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8"/>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8"/>
          <p:cNvSpPr/>
          <p:nvPr/>
        </p:nvSpPr>
        <p:spPr>
          <a:xfrm rot="5400000" flipH="1">
            <a:off x="7057325" y="-1098500"/>
            <a:ext cx="992100" cy="3189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1" name="Google Shape;341;p8"/>
          <p:cNvSpPr>
            <a:spLocks noGrp="1"/>
          </p:cNvSpPr>
          <p:nvPr>
            <p:ph type="pic" idx="2"/>
          </p:nvPr>
        </p:nvSpPr>
        <p:spPr>
          <a:xfrm>
            <a:off x="5958875" y="992050"/>
            <a:ext cx="3185100" cy="4151400"/>
          </a:xfrm>
          <a:prstGeom prst="rect">
            <a:avLst/>
          </a:prstGeom>
          <a:noFill/>
          <a:ln w="9525" cap="flat" cmpd="sng">
            <a:solidFill>
              <a:schemeClr val="dk1"/>
            </a:solidFill>
            <a:prstDash val="solid"/>
            <a:round/>
            <a:headEnd type="none" w="sm" len="sm"/>
            <a:tailEnd type="none" w="sm" len="sm"/>
          </a:ln>
        </p:spPr>
      </p:sp>
      <p:grpSp>
        <p:nvGrpSpPr>
          <p:cNvPr id="342" name="Google Shape;342;p8"/>
          <p:cNvGrpSpPr/>
          <p:nvPr/>
        </p:nvGrpSpPr>
        <p:grpSpPr>
          <a:xfrm>
            <a:off x="176265" y="225422"/>
            <a:ext cx="1313711" cy="919193"/>
            <a:chOff x="270040" y="4091722"/>
            <a:chExt cx="1313711" cy="919193"/>
          </a:xfrm>
        </p:grpSpPr>
        <p:grpSp>
          <p:nvGrpSpPr>
            <p:cNvPr id="343" name="Google Shape;343;p8"/>
            <p:cNvGrpSpPr/>
            <p:nvPr/>
          </p:nvGrpSpPr>
          <p:grpSpPr>
            <a:xfrm>
              <a:off x="270040" y="4224538"/>
              <a:ext cx="1313711" cy="786377"/>
              <a:chOff x="270040" y="4224538"/>
              <a:chExt cx="1313711" cy="786377"/>
            </a:xfrm>
          </p:grpSpPr>
          <p:grpSp>
            <p:nvGrpSpPr>
              <p:cNvPr id="344" name="Google Shape;344;p8"/>
              <p:cNvGrpSpPr/>
              <p:nvPr/>
            </p:nvGrpSpPr>
            <p:grpSpPr>
              <a:xfrm>
                <a:off x="1339015" y="4224538"/>
                <a:ext cx="244736" cy="491002"/>
                <a:chOff x="3013775" y="4188704"/>
                <a:chExt cx="288842" cy="579490"/>
              </a:xfrm>
            </p:grpSpPr>
            <p:sp>
              <p:nvSpPr>
                <p:cNvPr id="345" name="Google Shape;345;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8"/>
              <p:cNvGrpSpPr/>
              <p:nvPr/>
            </p:nvGrpSpPr>
            <p:grpSpPr>
              <a:xfrm>
                <a:off x="270040" y="4519913"/>
                <a:ext cx="244736" cy="491002"/>
                <a:chOff x="3013775" y="4188704"/>
                <a:chExt cx="288842" cy="579490"/>
              </a:xfrm>
            </p:grpSpPr>
            <p:sp>
              <p:nvSpPr>
                <p:cNvPr id="348" name="Google Shape;348;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 name="Google Shape;350;p8"/>
            <p:cNvGrpSpPr/>
            <p:nvPr/>
          </p:nvGrpSpPr>
          <p:grpSpPr>
            <a:xfrm>
              <a:off x="846257" y="4091722"/>
              <a:ext cx="161293" cy="323342"/>
              <a:chOff x="8502607" y="4039472"/>
              <a:chExt cx="161293" cy="323342"/>
            </a:xfrm>
          </p:grpSpPr>
          <p:sp>
            <p:nvSpPr>
              <p:cNvPr id="351" name="Google Shape;351;p8"/>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xfrm>
            <a:off x="2241425" y="18265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55" name="Google Shape;355;p9"/>
          <p:cNvSpPr txBox="1">
            <a:spLocks noGrp="1"/>
          </p:cNvSpPr>
          <p:nvPr>
            <p:ph type="subTitle" idx="1"/>
          </p:nvPr>
        </p:nvSpPr>
        <p:spPr>
          <a:xfrm>
            <a:off x="2241475" y="27020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9"/>
          <p:cNvSpPr>
            <a:spLocks noGrp="1"/>
          </p:cNvSpPr>
          <p:nvPr>
            <p:ph type="pic" idx="2"/>
          </p:nvPr>
        </p:nvSpPr>
        <p:spPr>
          <a:xfrm>
            <a:off x="-6625" y="3325"/>
            <a:ext cx="3375300" cy="1513800"/>
          </a:xfrm>
          <a:prstGeom prst="rect">
            <a:avLst/>
          </a:prstGeom>
          <a:noFill/>
          <a:ln w="9525" cap="flat" cmpd="sng">
            <a:solidFill>
              <a:schemeClr val="dk1"/>
            </a:solidFill>
            <a:prstDash val="solid"/>
            <a:round/>
            <a:headEnd type="none" w="sm" len="sm"/>
            <a:tailEnd type="none" w="sm" len="sm"/>
          </a:ln>
        </p:spPr>
      </p:sp>
      <p:grpSp>
        <p:nvGrpSpPr>
          <p:cNvPr id="357" name="Google Shape;357;p9"/>
          <p:cNvGrpSpPr/>
          <p:nvPr/>
        </p:nvGrpSpPr>
        <p:grpSpPr>
          <a:xfrm rot="8659666" flipH="1">
            <a:off x="4975959" y="3748046"/>
            <a:ext cx="5515550" cy="3480091"/>
            <a:chOff x="1052575" y="238400"/>
            <a:chExt cx="5516000" cy="3480375"/>
          </a:xfrm>
        </p:grpSpPr>
        <p:sp>
          <p:nvSpPr>
            <p:cNvPr id="358" name="Google Shape;358;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9"/>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rot="5400000" flipH="1">
            <a:off x="5833025" y="-2452375"/>
            <a:ext cx="862500" cy="5767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392" name="Google Shape;392;p9"/>
          <p:cNvGrpSpPr/>
          <p:nvPr/>
        </p:nvGrpSpPr>
        <p:grpSpPr>
          <a:xfrm>
            <a:off x="7115190" y="4030347"/>
            <a:ext cx="1313711" cy="919193"/>
            <a:chOff x="270040" y="4091722"/>
            <a:chExt cx="1313711" cy="919193"/>
          </a:xfrm>
        </p:grpSpPr>
        <p:grpSp>
          <p:nvGrpSpPr>
            <p:cNvPr id="393" name="Google Shape;393;p9"/>
            <p:cNvGrpSpPr/>
            <p:nvPr/>
          </p:nvGrpSpPr>
          <p:grpSpPr>
            <a:xfrm>
              <a:off x="270040" y="4224538"/>
              <a:ext cx="1313711" cy="786377"/>
              <a:chOff x="270040" y="4224538"/>
              <a:chExt cx="1313711" cy="786377"/>
            </a:xfrm>
          </p:grpSpPr>
          <p:grpSp>
            <p:nvGrpSpPr>
              <p:cNvPr id="394" name="Google Shape;394;p9"/>
              <p:cNvGrpSpPr/>
              <p:nvPr/>
            </p:nvGrpSpPr>
            <p:grpSpPr>
              <a:xfrm>
                <a:off x="1339015" y="4224538"/>
                <a:ext cx="244736" cy="491002"/>
                <a:chOff x="3013775" y="4188704"/>
                <a:chExt cx="288842" cy="579490"/>
              </a:xfrm>
            </p:grpSpPr>
            <p:sp>
              <p:nvSpPr>
                <p:cNvPr id="395" name="Google Shape;395;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270040" y="4519913"/>
                <a:ext cx="244736" cy="491002"/>
                <a:chOff x="3013775" y="4188704"/>
                <a:chExt cx="288842" cy="579490"/>
              </a:xfrm>
            </p:grpSpPr>
            <p:sp>
              <p:nvSpPr>
                <p:cNvPr id="398" name="Google Shape;398;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0" name="Google Shape;400;p9"/>
            <p:cNvGrpSpPr/>
            <p:nvPr/>
          </p:nvGrpSpPr>
          <p:grpSpPr>
            <a:xfrm>
              <a:off x="846257" y="4091722"/>
              <a:ext cx="161293" cy="323342"/>
              <a:chOff x="8502607" y="4039472"/>
              <a:chExt cx="161293" cy="323342"/>
            </a:xfrm>
          </p:grpSpPr>
          <p:sp>
            <p:nvSpPr>
              <p:cNvPr id="401" name="Google Shape;401;p9"/>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3"/>
        <p:cNvGrpSpPr/>
        <p:nvPr/>
      </p:nvGrpSpPr>
      <p:grpSpPr>
        <a:xfrm>
          <a:off x="0" y="0"/>
          <a:ext cx="0" cy="0"/>
          <a:chOff x="0" y="0"/>
          <a:chExt cx="0" cy="0"/>
        </a:xfrm>
      </p:grpSpPr>
      <p:sp>
        <p:nvSpPr>
          <p:cNvPr id="404" name="Google Shape;404;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89"/>
        <p:cNvGrpSpPr/>
        <p:nvPr/>
      </p:nvGrpSpPr>
      <p:grpSpPr>
        <a:xfrm>
          <a:off x="0" y="0"/>
          <a:ext cx="0" cy="0"/>
          <a:chOff x="0" y="0"/>
          <a:chExt cx="0" cy="0"/>
        </a:xfrm>
      </p:grpSpPr>
      <p:grpSp>
        <p:nvGrpSpPr>
          <p:cNvPr id="890" name="Google Shape;890;p24"/>
          <p:cNvGrpSpPr/>
          <p:nvPr/>
        </p:nvGrpSpPr>
        <p:grpSpPr>
          <a:xfrm rot="1866847">
            <a:off x="5881110" y="-1807480"/>
            <a:ext cx="5010622" cy="3161502"/>
            <a:chOff x="1052575" y="238400"/>
            <a:chExt cx="5516000" cy="3480375"/>
          </a:xfrm>
        </p:grpSpPr>
        <p:sp>
          <p:nvSpPr>
            <p:cNvPr id="891" name="Google Shape;891;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3" name="Google Shape;923;p24"/>
          <p:cNvSpPr/>
          <p:nvPr/>
        </p:nvSpPr>
        <p:spPr>
          <a:xfrm>
            <a:off x="8428900" y="4608500"/>
            <a:ext cx="7152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0" y="2614300"/>
            <a:ext cx="374100" cy="26976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24"/>
          <p:cNvGrpSpPr/>
          <p:nvPr/>
        </p:nvGrpSpPr>
        <p:grpSpPr>
          <a:xfrm flipH="1">
            <a:off x="8498150" y="169365"/>
            <a:ext cx="417780" cy="1041313"/>
            <a:chOff x="8066475" y="169365"/>
            <a:chExt cx="417780" cy="1041313"/>
          </a:xfrm>
        </p:grpSpPr>
        <p:grpSp>
          <p:nvGrpSpPr>
            <p:cNvPr id="926" name="Google Shape;926;p24"/>
            <p:cNvGrpSpPr/>
            <p:nvPr/>
          </p:nvGrpSpPr>
          <p:grpSpPr>
            <a:xfrm>
              <a:off x="8252015" y="602886"/>
              <a:ext cx="232240" cy="607792"/>
              <a:chOff x="6614891" y="872016"/>
              <a:chExt cx="725750" cy="1899350"/>
            </a:xfrm>
          </p:grpSpPr>
          <p:sp>
            <p:nvSpPr>
              <p:cNvPr id="927" name="Google Shape;927;p24"/>
              <p:cNvSpPr/>
              <p:nvPr/>
            </p:nvSpPr>
            <p:spPr>
              <a:xfrm>
                <a:off x="6614891" y="872016"/>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6787541" y="1033366"/>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24"/>
            <p:cNvGrpSpPr/>
            <p:nvPr/>
          </p:nvGrpSpPr>
          <p:grpSpPr>
            <a:xfrm>
              <a:off x="8066475" y="169365"/>
              <a:ext cx="139707" cy="365625"/>
              <a:chOff x="7963875" y="796000"/>
              <a:chExt cx="725750" cy="1899350"/>
            </a:xfrm>
          </p:grpSpPr>
          <p:sp>
            <p:nvSpPr>
              <p:cNvPr id="930" name="Google Shape;930;p24"/>
              <p:cNvSpPr/>
              <p:nvPr/>
            </p:nvSpPr>
            <p:spPr>
              <a:xfrm>
                <a:off x="7963875" y="796000"/>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8136525" y="957350"/>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932"/>
        <p:cNvGrpSpPr/>
        <p:nvPr/>
      </p:nvGrpSpPr>
      <p:grpSpPr>
        <a:xfrm>
          <a:off x="0" y="0"/>
          <a:ext cx="0" cy="0"/>
          <a:chOff x="0" y="0"/>
          <a:chExt cx="0" cy="0"/>
        </a:xfrm>
      </p:grpSpPr>
      <p:grpSp>
        <p:nvGrpSpPr>
          <p:cNvPr id="933" name="Google Shape;933;p25"/>
          <p:cNvGrpSpPr/>
          <p:nvPr/>
        </p:nvGrpSpPr>
        <p:grpSpPr>
          <a:xfrm rot="-798115">
            <a:off x="4827175" y="4213988"/>
            <a:ext cx="5010572" cy="3161470"/>
            <a:chOff x="1052575" y="238400"/>
            <a:chExt cx="5516000" cy="3480375"/>
          </a:xfrm>
        </p:grpSpPr>
        <p:sp>
          <p:nvSpPr>
            <p:cNvPr id="934" name="Google Shape;934;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25"/>
          <p:cNvSpPr/>
          <p:nvPr/>
        </p:nvSpPr>
        <p:spPr>
          <a:xfrm>
            <a:off x="0" y="0"/>
            <a:ext cx="23049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5"/>
          <p:cNvSpPr/>
          <p:nvPr/>
        </p:nvSpPr>
        <p:spPr>
          <a:xfrm rot="10800000">
            <a:off x="8769900" y="2519400"/>
            <a:ext cx="374100" cy="2624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25"/>
          <p:cNvGrpSpPr/>
          <p:nvPr/>
        </p:nvGrpSpPr>
        <p:grpSpPr>
          <a:xfrm>
            <a:off x="7602890" y="4173222"/>
            <a:ext cx="1048828" cy="705093"/>
            <a:chOff x="7602890" y="4173222"/>
            <a:chExt cx="1048828" cy="705093"/>
          </a:xfrm>
        </p:grpSpPr>
        <p:grpSp>
          <p:nvGrpSpPr>
            <p:cNvPr id="969" name="Google Shape;969;p25"/>
            <p:cNvGrpSpPr/>
            <p:nvPr/>
          </p:nvGrpSpPr>
          <p:grpSpPr>
            <a:xfrm>
              <a:off x="7602890" y="4387313"/>
              <a:ext cx="244736" cy="491002"/>
              <a:chOff x="3013775" y="4188704"/>
              <a:chExt cx="288842" cy="579490"/>
            </a:xfrm>
          </p:grpSpPr>
          <p:sp>
            <p:nvSpPr>
              <p:cNvPr id="970" name="Google Shape;970;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25"/>
            <p:cNvGrpSpPr/>
            <p:nvPr/>
          </p:nvGrpSpPr>
          <p:grpSpPr>
            <a:xfrm>
              <a:off x="8490457" y="4173222"/>
              <a:ext cx="161261" cy="323529"/>
              <a:chOff x="3013775" y="4188704"/>
              <a:chExt cx="288842" cy="579490"/>
            </a:xfrm>
          </p:grpSpPr>
          <p:sp>
            <p:nvSpPr>
              <p:cNvPr id="973" name="Google Shape;973;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1_Title and two 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5077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ExtraBold"/>
              <a:buNone/>
              <a:defRPr sz="2800">
                <a:solidFill>
                  <a:schemeClr val="dk1"/>
                </a:solidFill>
                <a:latin typeface="Exo 2 ExtraBold"/>
                <a:ea typeface="Exo 2 ExtraBold"/>
                <a:cs typeface="Exo 2 ExtraBold"/>
                <a:sym typeface="Exo 2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1pPr>
            <a:lvl2pPr marL="914400" lvl="1"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2pPr>
            <a:lvl3pPr marL="1371600" lvl="2"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3pPr>
            <a:lvl4pPr marL="1828800" lvl="3"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4pPr>
            <a:lvl5pPr marL="2286000" lvl="4"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5pPr>
            <a:lvl6pPr marL="2743200" lvl="5"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6pPr>
            <a:lvl7pPr marL="3200400" lvl="6"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7pPr>
            <a:lvl8pPr marL="3657600" lvl="7"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8pPr>
            <a:lvl9pPr marL="4114800" lvl="8"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8" r:id="rId5"/>
    <p:sldLayoutId id="2147483670" r:id="rId6"/>
    <p:sldLayoutId id="2147483671" r:id="rId7"/>
    <p:sldLayoutId id="214748367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84"/>
        <p:cNvGrpSpPr/>
        <p:nvPr/>
      </p:nvGrpSpPr>
      <p:grpSpPr>
        <a:xfrm>
          <a:off x="0" y="0"/>
          <a:ext cx="0" cy="0"/>
          <a:chOff x="0" y="0"/>
          <a:chExt cx="0" cy="0"/>
        </a:xfrm>
      </p:grpSpPr>
      <p:sp>
        <p:nvSpPr>
          <p:cNvPr id="986" name="Google Shape;986;p29"/>
          <p:cNvSpPr txBox="1">
            <a:spLocks noGrp="1"/>
          </p:cNvSpPr>
          <p:nvPr>
            <p:ph type="ctrTitle"/>
          </p:nvPr>
        </p:nvSpPr>
        <p:spPr>
          <a:xfrm>
            <a:off x="1987107" y="1936955"/>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p>
            <a:pPr lvl="0" algn="ctr"/>
            <a:r>
              <a:rPr lang="ar-SA" sz="2000" b="1" dirty="0">
                <a:solidFill>
                  <a:srgbClr val="3BA0D8"/>
                </a:solidFill>
                <a:latin typeface="Hacen Casablanca" panose="02000000000000000000" pitchFamily="2" charset="-78"/>
                <a:cs typeface="Hacen Casablanca" panose="02000000000000000000" pitchFamily="2" charset="-78"/>
              </a:rPr>
              <a:t>سجل التعثرات </a:t>
            </a:r>
            <a:endParaRPr sz="2000" dirty="0">
              <a:solidFill>
                <a:srgbClr val="3BA0D8"/>
              </a:solidFill>
              <a:latin typeface="Hacen Casablanca" panose="02000000000000000000" pitchFamily="2" charset="-78"/>
              <a:cs typeface="Hacen Casablanca" panose="02000000000000000000" pitchFamily="2" charset="-78"/>
            </a:endParaRPr>
          </a:p>
        </p:txBody>
      </p:sp>
      <p:sp>
        <p:nvSpPr>
          <p:cNvPr id="988" name="Google Shape;988;p29"/>
          <p:cNvSpPr/>
          <p:nvPr/>
        </p:nvSpPr>
        <p:spPr>
          <a:xfrm rot="10800000">
            <a:off x="6233100" y="-50000"/>
            <a:ext cx="374100" cy="1568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29"/>
          <p:cNvGrpSpPr/>
          <p:nvPr/>
        </p:nvGrpSpPr>
        <p:grpSpPr>
          <a:xfrm>
            <a:off x="360961" y="3944139"/>
            <a:ext cx="2419430" cy="1062312"/>
            <a:chOff x="1154787" y="3798667"/>
            <a:chExt cx="2419430" cy="1062312"/>
          </a:xfrm>
        </p:grpSpPr>
        <p:grpSp>
          <p:nvGrpSpPr>
            <p:cNvPr id="990" name="Google Shape;990;p29"/>
            <p:cNvGrpSpPr/>
            <p:nvPr/>
          </p:nvGrpSpPr>
          <p:grpSpPr>
            <a:xfrm>
              <a:off x="2204945" y="4356011"/>
              <a:ext cx="251697" cy="504968"/>
              <a:chOff x="3013775" y="4188704"/>
              <a:chExt cx="288842" cy="579490"/>
            </a:xfrm>
          </p:grpSpPr>
          <p:sp>
            <p:nvSpPr>
              <p:cNvPr id="991" name="Google Shape;991;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29"/>
            <p:cNvGrpSpPr/>
            <p:nvPr/>
          </p:nvGrpSpPr>
          <p:grpSpPr>
            <a:xfrm>
              <a:off x="3285375" y="3798667"/>
              <a:ext cx="288842" cy="579490"/>
              <a:chOff x="3013775" y="4188704"/>
              <a:chExt cx="288842" cy="579490"/>
            </a:xfrm>
          </p:grpSpPr>
          <p:sp>
            <p:nvSpPr>
              <p:cNvPr id="994" name="Google Shape;994;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29"/>
            <p:cNvGrpSpPr/>
            <p:nvPr/>
          </p:nvGrpSpPr>
          <p:grpSpPr>
            <a:xfrm>
              <a:off x="1154787" y="3897155"/>
              <a:ext cx="190636" cy="382521"/>
              <a:chOff x="3013775" y="4188704"/>
              <a:chExt cx="288842" cy="579490"/>
            </a:xfrm>
          </p:grpSpPr>
          <p:sp>
            <p:nvSpPr>
              <p:cNvPr id="997" name="Google Shape;997;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6" name="Google Shape;1021;p31"/>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6607200" y="0"/>
            <a:ext cx="2527536" cy="4786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2F9B23-6580-FB2A-4080-AD1D25D1FE17}"/>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مقدمة </a:t>
            </a:r>
            <a:endParaRPr lang="ar-EG" b="1" u="sng" dirty="0">
              <a:solidFill>
                <a:srgbClr val="238C8F"/>
              </a:solidFill>
              <a:latin typeface="Hacen Casablanca" panose="02000000000000000000" pitchFamily="2" charset="-78"/>
              <a:cs typeface="Hacen Casablanca" panose="02000000000000000000" pitchFamily="2" charset="-78"/>
            </a:endParaRPr>
          </a:p>
        </p:txBody>
      </p:sp>
      <p:sp>
        <p:nvSpPr>
          <p:cNvPr id="3" name="TextBox 2">
            <a:extLst>
              <a:ext uri="{FF2B5EF4-FFF2-40B4-BE49-F238E27FC236}">
                <a16:creationId xmlns="" xmlns:a16="http://schemas.microsoft.com/office/drawing/2014/main" id="{7A770DA3-9FF9-B767-06F1-B9059FB2C53A}"/>
              </a:ext>
            </a:extLst>
          </p:cNvPr>
          <p:cNvSpPr txBox="1"/>
          <p:nvPr/>
        </p:nvSpPr>
        <p:spPr>
          <a:xfrm>
            <a:off x="1041010" y="984532"/>
            <a:ext cx="7962314" cy="584775"/>
          </a:xfrm>
          <a:prstGeom prst="rect">
            <a:avLst/>
          </a:prstGeom>
          <a:solidFill>
            <a:srgbClr val="9CC2E5"/>
          </a:solidFill>
        </p:spPr>
        <p:txBody>
          <a:bodyPr wrap="square" rtlCol="0" anchor="ctr">
            <a:spAutoFit/>
          </a:bodyPr>
          <a:lstStyle/>
          <a:p>
            <a:pPr algn="r"/>
            <a:r>
              <a:rPr lang="ar-EG" sz="1600" b="1" dirty="0"/>
              <a:t>مجموعة من تعثرات العمل التي تمت فترة سابقة يتم سردها لتعم الفائدة وزيادة الخبرة، مع ذكر الواقعة بالتفصيل والضرر الواقع وبيان اسبابه والحلول التي كان من الممكن عملها لتفادي الخطا والدروس المستفادة من التعثر</a:t>
            </a:r>
            <a:endParaRPr lang="en-US" sz="1600" b="1" dirty="0"/>
          </a:p>
        </p:txBody>
      </p:sp>
      <p:sp>
        <p:nvSpPr>
          <p:cNvPr id="11" name="TextBox 10">
            <a:extLst>
              <a:ext uri="{FF2B5EF4-FFF2-40B4-BE49-F238E27FC236}">
                <a16:creationId xmlns="" xmlns:a16="http://schemas.microsoft.com/office/drawing/2014/main" id="{B5A94D9F-E244-38B4-AD66-5C8758792334}"/>
              </a:ext>
            </a:extLst>
          </p:cNvPr>
          <p:cNvSpPr txBox="1"/>
          <p:nvPr/>
        </p:nvSpPr>
        <p:spPr>
          <a:xfrm>
            <a:off x="4685198" y="2916496"/>
            <a:ext cx="4373080" cy="584775"/>
          </a:xfrm>
          <a:prstGeom prst="rect">
            <a:avLst/>
          </a:prstGeom>
          <a:solidFill>
            <a:srgbClr val="9CC2E5"/>
          </a:solidFill>
        </p:spPr>
        <p:txBody>
          <a:bodyPr wrap="square" rtlCol="0" anchor="ctr">
            <a:spAutoFit/>
          </a:bodyPr>
          <a:lstStyle/>
          <a:p>
            <a:pPr algn="r"/>
            <a:r>
              <a:rPr lang="ar-EG" sz="1600" b="1" dirty="0"/>
              <a:t>استعراض الاخطاء السابقة والاستفادة منها لتجنب حدوثه مجددا وزيادة وعي الموظفين</a:t>
            </a:r>
            <a:endParaRPr lang="en-US" sz="1600" b="1" dirty="0"/>
          </a:p>
        </p:txBody>
      </p:sp>
      <p:sp>
        <p:nvSpPr>
          <p:cNvPr id="13" name="Google Shape;986;p29">
            <a:extLst>
              <a:ext uri="{FF2B5EF4-FFF2-40B4-BE49-F238E27FC236}">
                <a16:creationId xmlns="" xmlns:a16="http://schemas.microsoft.com/office/drawing/2014/main" id="{8466823A-EB26-E17A-87E6-E5B4E1354813}"/>
              </a:ext>
            </a:extLst>
          </p:cNvPr>
          <p:cNvSpPr txBox="1">
            <a:spLocks/>
          </p:cNvSpPr>
          <p:nvPr/>
        </p:nvSpPr>
        <p:spPr>
          <a:xfrm>
            <a:off x="6388934" y="2065256"/>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xo 2 ExtraBold"/>
              <a:buNone/>
              <a:defRPr sz="2800" b="0" i="0" u="none" strike="noStrike" cap="none">
                <a:solidFill>
                  <a:schemeClr val="dk1"/>
                </a:solidFill>
                <a:latin typeface="Exo 2 ExtraBold"/>
                <a:ea typeface="Exo 2 ExtraBold"/>
                <a:cs typeface="Exo 2 ExtraBold"/>
                <a:sym typeface="Exo 2 ExtraBold"/>
              </a:defRPr>
            </a:lvl1pPr>
            <a:lvl2pPr marR="0" lvl="1"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9pPr>
          </a:lstStyle>
          <a:p>
            <a:pPr algn="ctr"/>
            <a:r>
              <a:rPr lang="ar-SA" sz="2000" b="1" dirty="0">
                <a:solidFill>
                  <a:srgbClr val="3BA0D8"/>
                </a:solidFill>
                <a:latin typeface="Hacen Casablanca" panose="02000000000000000000" pitchFamily="2" charset="-78"/>
                <a:cs typeface="Hacen Casablanca" panose="02000000000000000000" pitchFamily="2" charset="-78"/>
              </a:rPr>
              <a:t>اهداف السجل </a:t>
            </a:r>
            <a:endParaRPr lang="ar-SA" sz="2000" dirty="0">
              <a:solidFill>
                <a:srgbClr val="3BA0D8"/>
              </a:solidFill>
              <a:latin typeface="Hacen Casablanca" panose="02000000000000000000" pitchFamily="2" charset="-78"/>
              <a:cs typeface="Hacen Casablanca" panose="02000000000000000000" pitchFamily="2" charset="-78"/>
            </a:endParaRPr>
          </a:p>
        </p:txBody>
      </p:sp>
      <p:pic>
        <p:nvPicPr>
          <p:cNvPr id="15" name="Picture 14" descr="A group of people walking on a rope&#10;&#10;Description automatically generated">
            <a:extLst>
              <a:ext uri="{FF2B5EF4-FFF2-40B4-BE49-F238E27FC236}">
                <a16:creationId xmlns="" xmlns:a16="http://schemas.microsoft.com/office/drawing/2014/main" id="{F7333C2A-3133-44D0-2499-42223743F6A5}"/>
              </a:ext>
            </a:extLst>
          </p:cNvPr>
          <p:cNvPicPr>
            <a:picLocks noChangeAspect="1"/>
          </p:cNvPicPr>
          <p:nvPr/>
        </p:nvPicPr>
        <p:blipFill>
          <a:blip r:embed="rId2"/>
          <a:stretch>
            <a:fillRect/>
          </a:stretch>
        </p:blipFill>
        <p:spPr>
          <a:xfrm>
            <a:off x="102107" y="1917996"/>
            <a:ext cx="4373080" cy="2782372"/>
          </a:xfrm>
          <a:prstGeom prst="rect">
            <a:avLst/>
          </a:prstGeom>
        </p:spPr>
      </p:pic>
    </p:spTree>
    <p:extLst>
      <p:ext uri="{BB962C8B-B14F-4D97-AF65-F5344CB8AC3E}">
        <p14:creationId xmlns:p14="http://schemas.microsoft.com/office/powerpoint/2010/main" val="3533272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604F3D-2716-4045-B307-F1744FF11A89}"/>
              </a:ext>
            </a:extLst>
          </p:cNvPr>
          <p:cNvSpPr>
            <a:spLocks noGrp="1"/>
          </p:cNvSpPr>
          <p:nvPr>
            <p:ph type="title"/>
          </p:nvPr>
        </p:nvSpPr>
        <p:spPr>
          <a:xfrm>
            <a:off x="103884" y="130927"/>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الخدمات المساندة</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 xmlns:a16="http://schemas.microsoft.com/office/drawing/2014/main" id="{E0FB6B20-7E6F-651B-D823-838C8953D5B9}"/>
              </a:ext>
            </a:extLst>
          </p:cNvPr>
          <p:cNvGraphicFramePr>
            <a:graphicFrameLocks noGrp="1"/>
          </p:cNvGraphicFramePr>
          <p:nvPr>
            <p:extLst>
              <p:ext uri="{D42A27DB-BD31-4B8C-83A1-F6EECF244321}">
                <p14:modId xmlns:p14="http://schemas.microsoft.com/office/powerpoint/2010/main" val="4041473519"/>
              </p:ext>
            </p:extLst>
          </p:nvPr>
        </p:nvGraphicFramePr>
        <p:xfrm>
          <a:off x="4923692" y="991760"/>
          <a:ext cx="4128868" cy="3384603"/>
        </p:xfrm>
        <a:graphic>
          <a:graphicData uri="http://schemas.openxmlformats.org/drawingml/2006/table">
            <a:tbl>
              <a:tblPr firstRow="1" bandRow="1">
                <a:tableStyleId>{93296810-A885-4BE3-A3E7-6D5BEEA58F35}</a:tableStyleId>
              </a:tblPr>
              <a:tblGrid>
                <a:gridCol w="3117833">
                  <a:extLst>
                    <a:ext uri="{9D8B030D-6E8A-4147-A177-3AD203B41FA5}">
                      <a16:colId xmlns="" xmlns:a16="http://schemas.microsoft.com/office/drawing/2014/main" val="3314101645"/>
                    </a:ext>
                  </a:extLst>
                </a:gridCol>
                <a:gridCol w="1011035">
                  <a:extLst>
                    <a:ext uri="{9D8B030D-6E8A-4147-A177-3AD203B41FA5}">
                      <a16:colId xmlns="" xmlns:a16="http://schemas.microsoft.com/office/drawing/2014/main" val="2475150961"/>
                    </a:ext>
                  </a:extLst>
                </a:gridCol>
              </a:tblGrid>
              <a:tr h="652718">
                <a:tc>
                  <a:txBody>
                    <a:bodyPr/>
                    <a:lstStyle/>
                    <a:p>
                      <a:pPr algn="ctr" rtl="1" fontAlgn="b"/>
                      <a:r>
                        <a:rPr lang="ar-EG" sz="1200" b="0" i="0" u="none" strike="noStrike" dirty="0">
                          <a:solidFill>
                            <a:srgbClr val="000000"/>
                          </a:solidFill>
                          <a:effectLst/>
                          <a:latin typeface="Janna LT"/>
                        </a:rPr>
                        <a:t>اجراءت صيانة المركبات بعد خروجها من التخزين</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600" b="1" i="0" u="none" strike="noStrike" cap="none" dirty="0">
                          <a:solidFill>
                            <a:schemeClr val="tx1"/>
                          </a:solidFill>
                          <a:latin typeface="+mn-lt"/>
                          <a:ea typeface="+mn-ea"/>
                          <a:cs typeface="+mn-cs"/>
                          <a:sym typeface="Arial"/>
                        </a:rPr>
                        <a:t>سبب التعثر </a:t>
                      </a:r>
                      <a:endParaRPr lang="en-US" sz="16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 xmlns:a16="http://schemas.microsoft.com/office/drawing/2014/main" val="2809198240"/>
                  </a:ext>
                </a:extLst>
              </a:tr>
              <a:tr h="489537">
                <a:tc>
                  <a:txBody>
                    <a:bodyPr/>
                    <a:lstStyle/>
                    <a:p>
                      <a:pPr algn="ctr" rtl="1" fontAlgn="b"/>
                      <a:r>
                        <a:rPr lang="ar-EG" sz="1200" b="0" i="0" u="none" strike="noStrike" dirty="0">
                          <a:solidFill>
                            <a:srgbClr val="000000"/>
                          </a:solidFill>
                          <a:effectLst/>
                          <a:latin typeface="Janna LT"/>
                        </a:rPr>
                        <a:t>عدم اتباع اجراءت خطة الصيانة المخصصة للمركبات المخزنة بشكل سليم بعد خروجها من التخزين</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 xmlns:a16="http://schemas.microsoft.com/office/drawing/2014/main" val="930193976"/>
                  </a:ext>
                </a:extLst>
              </a:tr>
              <a:tr h="639307">
                <a:tc>
                  <a:txBody>
                    <a:bodyPr/>
                    <a:lstStyle/>
                    <a:p>
                      <a:pPr algn="ctr" rtl="1" fontAlgn="b"/>
                      <a:r>
                        <a:rPr lang="ar-EG" sz="1200" b="0" i="0" u="none" strike="noStrike" dirty="0">
                          <a:solidFill>
                            <a:srgbClr val="000000"/>
                          </a:solidFill>
                          <a:effectLst/>
                          <a:latin typeface="Janna LT"/>
                        </a:rPr>
                        <a:t>فحص كامل للمركبة – تغيير زيت المكينة – الاصلاحات الاخرى وفق الفحص</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 xmlns:a16="http://schemas.microsoft.com/office/drawing/2014/main" val="2177976009"/>
                  </a:ext>
                </a:extLst>
              </a:tr>
              <a:tr h="963734">
                <a:tc>
                  <a:txBody>
                    <a:bodyPr/>
                    <a:lstStyle/>
                    <a:p>
                      <a:pPr algn="ctr" rtl="1" fontAlgn="b"/>
                      <a:r>
                        <a:rPr lang="ar-EG" sz="1200" b="0" i="0" u="none" strike="noStrike" dirty="0">
                          <a:solidFill>
                            <a:srgbClr val="000000"/>
                          </a:solidFill>
                          <a:effectLst/>
                          <a:latin typeface="Janna LT"/>
                        </a:rPr>
                        <a:t>تأخير صيانة مركبة اكثر من الوقت المحدد مما سبب ضرر على استقبال الطلبات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 xmlns:a16="http://schemas.microsoft.com/office/drawing/2014/main" val="3195214518"/>
                  </a:ext>
                </a:extLst>
              </a:tr>
              <a:tr h="639307">
                <a:tc>
                  <a:txBody>
                    <a:bodyPr/>
                    <a:lstStyle/>
                    <a:p>
                      <a:pPr algn="ctr" rtl="1" fontAlgn="b"/>
                      <a:r>
                        <a:rPr lang="ar-EG" sz="1200" b="0" i="0" u="none" strike="noStrike" dirty="0">
                          <a:solidFill>
                            <a:srgbClr val="000000"/>
                          </a:solidFill>
                          <a:effectLst/>
                          <a:latin typeface="Janna LT"/>
                        </a:rPr>
                        <a:t>الالتزام بخطة الصيانة للمركبات المخزنة</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 xmlns:a16="http://schemas.microsoft.com/office/drawing/2014/main" val="1252557231"/>
                  </a:ext>
                </a:extLst>
              </a:tr>
            </a:tbl>
          </a:graphicData>
        </a:graphic>
      </p:graphicFrame>
      <p:graphicFrame>
        <p:nvGraphicFramePr>
          <p:cNvPr id="7" name="Table 5">
            <a:extLst>
              <a:ext uri="{FF2B5EF4-FFF2-40B4-BE49-F238E27FC236}">
                <a16:creationId xmlns="" xmlns:a16="http://schemas.microsoft.com/office/drawing/2014/main" id="{F65F760E-AC39-8014-70D5-14EF3573016B}"/>
              </a:ext>
            </a:extLst>
          </p:cNvPr>
          <p:cNvGraphicFramePr>
            <a:graphicFrameLocks noGrp="1"/>
          </p:cNvGraphicFramePr>
          <p:nvPr>
            <p:extLst>
              <p:ext uri="{D42A27DB-BD31-4B8C-83A1-F6EECF244321}">
                <p14:modId xmlns:p14="http://schemas.microsoft.com/office/powerpoint/2010/main" val="2290143641"/>
              </p:ext>
            </p:extLst>
          </p:nvPr>
        </p:nvGraphicFramePr>
        <p:xfrm>
          <a:off x="9077" y="998792"/>
          <a:ext cx="4422246" cy="3384602"/>
        </p:xfrm>
        <a:graphic>
          <a:graphicData uri="http://schemas.openxmlformats.org/drawingml/2006/table">
            <a:tbl>
              <a:tblPr firstRow="1" bandRow="1">
                <a:tableStyleId>{93296810-A885-4BE3-A3E7-6D5BEEA58F35}</a:tableStyleId>
              </a:tblPr>
              <a:tblGrid>
                <a:gridCol w="3301827">
                  <a:extLst>
                    <a:ext uri="{9D8B030D-6E8A-4147-A177-3AD203B41FA5}">
                      <a16:colId xmlns="" xmlns:a16="http://schemas.microsoft.com/office/drawing/2014/main" val="3314101645"/>
                    </a:ext>
                  </a:extLst>
                </a:gridCol>
                <a:gridCol w="1120419">
                  <a:extLst>
                    <a:ext uri="{9D8B030D-6E8A-4147-A177-3AD203B41FA5}">
                      <a16:colId xmlns="" xmlns:a16="http://schemas.microsoft.com/office/drawing/2014/main" val="2475150961"/>
                    </a:ext>
                  </a:extLst>
                </a:gridCol>
              </a:tblGrid>
              <a:tr h="652718">
                <a:tc>
                  <a:txBody>
                    <a:bodyPr/>
                    <a:lstStyle/>
                    <a:p>
                      <a:pPr algn="ctr" rtl="1" fontAlgn="b"/>
                      <a:r>
                        <a:rPr lang="ar-SA" sz="1200" b="0" i="0" u="none" strike="noStrike" dirty="0" smtClean="0">
                          <a:solidFill>
                            <a:srgbClr val="000000"/>
                          </a:solidFill>
                          <a:effectLst/>
                          <a:latin typeface="Janna LT"/>
                        </a:rPr>
                        <a:t>عدم</a:t>
                      </a:r>
                      <a:r>
                        <a:rPr lang="ar-SA" sz="1200" b="0" i="0" u="none" strike="noStrike" baseline="0" dirty="0" smtClean="0">
                          <a:solidFill>
                            <a:srgbClr val="000000"/>
                          </a:solidFill>
                          <a:effectLst/>
                          <a:latin typeface="Janna LT"/>
                        </a:rPr>
                        <a:t> فحص المركبة بعد اصلاحها</a:t>
                      </a:r>
                      <a:r>
                        <a:rPr lang="ar-EG" sz="1200" b="0" i="0" u="none" strike="noStrike" dirty="0" smtClean="0">
                          <a:solidFill>
                            <a:srgbClr val="000000"/>
                          </a:solidFill>
                          <a:effectLst/>
                          <a:latin typeface="Janna LT"/>
                        </a:rPr>
                        <a:t> </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ar-SA" sz="1600" b="1" dirty="0">
                          <a:solidFill>
                            <a:schemeClr val="tx1"/>
                          </a:solidFill>
                        </a:rPr>
                        <a:t>سبب التعثر </a:t>
                      </a:r>
                      <a:endParaRPr lang="en-US" sz="1600" b="1" dirty="0">
                        <a:solidFill>
                          <a:schemeClr val="tx1"/>
                        </a:solidFill>
                      </a:endParaRPr>
                    </a:p>
                  </a:txBody>
                  <a:tcPr anchor="ctr">
                    <a:solidFill>
                      <a:srgbClr val="9CC2E5"/>
                    </a:solidFill>
                  </a:tcPr>
                </a:tc>
                <a:extLst>
                  <a:ext uri="{0D108BD9-81ED-4DB2-BD59-A6C34878D82A}">
                    <a16:rowId xmlns="" xmlns:a16="http://schemas.microsoft.com/office/drawing/2014/main" val="2809198240"/>
                  </a:ext>
                </a:extLst>
              </a:tr>
              <a:tr h="489537">
                <a:tc>
                  <a:txBody>
                    <a:bodyPr/>
                    <a:lstStyle/>
                    <a:p>
                      <a:pPr marR="0" algn="ctr" rtl="1" fontAlgn="b">
                        <a:lnSpc>
                          <a:spcPct val="100000"/>
                        </a:lnSpc>
                        <a:spcBef>
                          <a:spcPts val="0"/>
                        </a:spcBef>
                        <a:spcAft>
                          <a:spcPts val="0"/>
                        </a:spcAft>
                        <a:buClr>
                          <a:srgbClr val="000000"/>
                        </a:buClr>
                        <a:buFont typeface="Arial"/>
                      </a:pPr>
                      <a:r>
                        <a:rPr lang="ar-SA" sz="1400" b="1" i="0" u="none" strike="noStrike" cap="none" dirty="0" smtClean="0">
                          <a:solidFill>
                            <a:srgbClr val="000000"/>
                          </a:solidFill>
                          <a:effectLst/>
                          <a:latin typeface="+mn-lt"/>
                          <a:ea typeface="+mn-ea"/>
                          <a:cs typeface="+mn-cs"/>
                          <a:sym typeface="Arial"/>
                        </a:rPr>
                        <a:t>عدم فحص المركبة بعد اصلاحها وخروجها من الورشة</a:t>
                      </a:r>
                      <a:endParaRPr lang="ar-EG" sz="1400" b="1" i="0" u="none" strike="noStrike" cap="none" dirty="0">
                        <a:solidFill>
                          <a:srgbClr val="000000"/>
                        </a:solidFill>
                        <a:effectLst/>
                        <a:latin typeface="+mn-lt"/>
                        <a:ea typeface="+mn-ea"/>
                        <a:cs typeface="+mn-cs"/>
                        <a:sym typeface="Arial"/>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 xmlns:a16="http://schemas.microsoft.com/office/drawing/2014/main" val="930193976"/>
                  </a:ext>
                </a:extLst>
              </a:tr>
              <a:tr h="639307">
                <a:tc>
                  <a:txBody>
                    <a:bodyPr/>
                    <a:lstStyle/>
                    <a:p>
                      <a:pPr algn="ctr" rtl="1" fontAlgn="b"/>
                      <a:r>
                        <a:rPr lang="ar-SA" sz="1200" b="0" i="0" u="none" strike="noStrike" dirty="0" smtClean="0">
                          <a:solidFill>
                            <a:srgbClr val="000000"/>
                          </a:solidFill>
                          <a:effectLst/>
                          <a:latin typeface="Janna LT"/>
                        </a:rPr>
                        <a:t>فحص اثبات السلامة بعد خروج المركبة وارسال تقرير مفصل</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 xmlns:a16="http://schemas.microsoft.com/office/drawing/2014/main" val="2177976009"/>
                  </a:ext>
                </a:extLst>
              </a:tr>
              <a:tr h="963733">
                <a:tc>
                  <a:txBody>
                    <a:bodyPr/>
                    <a:lstStyle/>
                    <a:p>
                      <a:pPr algn="ctr" rtl="1" fontAlgn="b"/>
                      <a:r>
                        <a:rPr lang="ar-EG" sz="1200" b="0" i="0" u="none" strike="noStrike" dirty="0">
                          <a:solidFill>
                            <a:srgbClr val="000000"/>
                          </a:solidFill>
                          <a:effectLst/>
                          <a:latin typeface="Janna LT"/>
                        </a:rPr>
                        <a:t> </a:t>
                      </a:r>
                      <a:r>
                        <a:rPr lang="ar-SA" sz="1200" b="0" i="0" u="none" strike="noStrike" dirty="0" smtClean="0">
                          <a:solidFill>
                            <a:srgbClr val="000000"/>
                          </a:solidFill>
                          <a:effectLst/>
                          <a:latin typeface="Janna LT"/>
                        </a:rPr>
                        <a:t>تعطل المركبة مرة اخرى مع العميل </a:t>
                      </a:r>
                      <a:r>
                        <a:rPr lang="ar-EG" sz="1200" b="0" i="0" u="none" strike="noStrike" dirty="0" smtClean="0">
                          <a:solidFill>
                            <a:srgbClr val="000000"/>
                          </a:solidFill>
                          <a:effectLst/>
                          <a:latin typeface="Janna LT"/>
                        </a:rPr>
                        <a:t>.  </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 xmlns:a16="http://schemas.microsoft.com/office/drawing/2014/main" val="3195214518"/>
                  </a:ext>
                </a:extLst>
              </a:tr>
              <a:tr h="639307">
                <a:tc>
                  <a:txBody>
                    <a:bodyPr/>
                    <a:lstStyle/>
                    <a:p>
                      <a:pPr algn="ctr" rtl="1" fontAlgn="b"/>
                      <a:r>
                        <a:rPr lang="ar-SA" sz="1200" b="0" i="0" u="none" strike="noStrike" smtClean="0">
                          <a:solidFill>
                            <a:srgbClr val="000000"/>
                          </a:solidFill>
                          <a:effectLst/>
                          <a:latin typeface="Janna LT"/>
                        </a:rPr>
                        <a:t>اثبات السلامة فحص يلزم استعماله بعد خروج اي مركبة من ورشة الاصلاح مع صور مثبتة</a:t>
                      </a:r>
                      <a:r>
                        <a:rPr lang="ar-SA" sz="1200" b="0" i="0" u="none" strike="noStrike" baseline="0" smtClean="0">
                          <a:solidFill>
                            <a:srgbClr val="000000"/>
                          </a:solidFill>
                          <a:effectLst/>
                          <a:latin typeface="Janna LT"/>
                        </a:rPr>
                        <a:t> لسلامة المركبة </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 xmlns:a16="http://schemas.microsoft.com/office/drawing/2014/main" val="1252557231"/>
                  </a:ext>
                </a:extLst>
              </a:tr>
            </a:tbl>
          </a:graphicData>
        </a:graphic>
      </p:graphicFrame>
    </p:spTree>
    <p:extLst>
      <p:ext uri="{BB962C8B-B14F-4D97-AF65-F5344CB8AC3E}">
        <p14:creationId xmlns:p14="http://schemas.microsoft.com/office/powerpoint/2010/main" val="166196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
        <p:nvSpPr>
          <p:cNvPr id="4" name="Text Placeholder 3"/>
          <p:cNvSpPr>
            <a:spLocks noGrp="1"/>
          </p:cNvSpPr>
          <p:nvPr>
            <p:ph type="body" idx="2"/>
          </p:nvPr>
        </p:nvSpPr>
        <p:spPr/>
        <p:txBody>
          <a:bodyPr/>
          <a:lstStyle/>
          <a:p>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
        <p:nvSpPr>
          <p:cNvPr id="6" name="Title 1">
            <a:extLst>
              <a:ext uri="{FF2B5EF4-FFF2-40B4-BE49-F238E27FC236}">
                <a16:creationId xmlns="" xmlns:a16="http://schemas.microsoft.com/office/drawing/2014/main" id="{3A604F3D-2716-4045-B307-F1744FF11A89}"/>
              </a:ext>
            </a:extLst>
          </p:cNvPr>
          <p:cNvSpPr txBox="1">
            <a:spLocks/>
          </p:cNvSpPr>
          <p:nvPr/>
        </p:nvSpPr>
        <p:spPr>
          <a:xfrm>
            <a:off x="1848104" y="129734"/>
            <a:ext cx="9405534" cy="10054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xo 2 ExtraBold"/>
              <a:buNone/>
              <a:defRPr sz="2800" b="0" i="0" u="none" strike="noStrike" cap="none">
                <a:solidFill>
                  <a:schemeClr val="dk1"/>
                </a:solidFill>
                <a:latin typeface="Exo 2 ExtraBold"/>
                <a:ea typeface="Exo 2 ExtraBold"/>
                <a:cs typeface="Exo 2 ExtraBold"/>
                <a:sym typeface="Exo 2 ExtraBold"/>
              </a:defRPr>
            </a:lvl1pPr>
            <a:lvl2pPr marR="0" lvl="1"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9pPr>
          </a:lstStyle>
          <a:p>
            <a:pPr algn="ctr"/>
            <a:r>
              <a:rPr lang="ar-SA" b="1" u="sng" smtClean="0">
                <a:solidFill>
                  <a:srgbClr val="238C8F"/>
                </a:solidFill>
                <a:latin typeface="Hacen Casablanca" panose="02000000000000000000" pitchFamily="2" charset="-78"/>
                <a:cs typeface="Hacen Casablanca" panose="02000000000000000000" pitchFamily="2" charset="-78"/>
              </a:rPr>
              <a:t>الخدمات المساندة</a:t>
            </a: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7" name="Table 5">
            <a:extLst>
              <a:ext uri="{FF2B5EF4-FFF2-40B4-BE49-F238E27FC236}">
                <a16:creationId xmlns="" xmlns:a16="http://schemas.microsoft.com/office/drawing/2014/main" id="{F65F760E-AC39-8014-70D5-14EF3573016B}"/>
              </a:ext>
            </a:extLst>
          </p:cNvPr>
          <p:cNvGraphicFramePr>
            <a:graphicFrameLocks noGrp="1"/>
          </p:cNvGraphicFramePr>
          <p:nvPr>
            <p:extLst>
              <p:ext uri="{D42A27DB-BD31-4B8C-83A1-F6EECF244321}">
                <p14:modId xmlns:p14="http://schemas.microsoft.com/office/powerpoint/2010/main" val="3505875027"/>
              </p:ext>
            </p:extLst>
          </p:nvPr>
        </p:nvGraphicFramePr>
        <p:xfrm>
          <a:off x="1242324" y="598575"/>
          <a:ext cx="7091826" cy="3933075"/>
        </p:xfrm>
        <a:graphic>
          <a:graphicData uri="http://schemas.openxmlformats.org/drawingml/2006/table">
            <a:tbl>
              <a:tblPr firstRow="1" bandRow="1">
                <a:tableStyleId>{93296810-A885-4BE3-A3E7-6D5BEEA58F35}</a:tableStyleId>
              </a:tblPr>
              <a:tblGrid>
                <a:gridCol w="5372438">
                  <a:extLst>
                    <a:ext uri="{9D8B030D-6E8A-4147-A177-3AD203B41FA5}">
                      <a16:colId xmlns="" xmlns:a16="http://schemas.microsoft.com/office/drawing/2014/main" val="3314101645"/>
                    </a:ext>
                  </a:extLst>
                </a:gridCol>
                <a:gridCol w="1719388">
                  <a:extLst>
                    <a:ext uri="{9D8B030D-6E8A-4147-A177-3AD203B41FA5}">
                      <a16:colId xmlns="" xmlns:a16="http://schemas.microsoft.com/office/drawing/2014/main" val="2475150961"/>
                    </a:ext>
                  </a:extLst>
                </a:gridCol>
              </a:tblGrid>
              <a:tr h="758492">
                <a:tc>
                  <a:txBody>
                    <a:bodyPr/>
                    <a:lstStyle/>
                    <a:p>
                      <a:pPr algn="ctr" rtl="1" fontAlgn="b"/>
                      <a:r>
                        <a:rPr lang="ar-SA" sz="1200" b="0" i="0" u="none" strike="noStrike" dirty="0" smtClean="0">
                          <a:solidFill>
                            <a:srgbClr val="000000"/>
                          </a:solidFill>
                          <a:effectLst/>
                          <a:latin typeface="Janna LT"/>
                        </a:rPr>
                        <a:t>خروج المركبة من</a:t>
                      </a:r>
                      <a:r>
                        <a:rPr lang="ar-SA" sz="1200" b="0" i="0" u="none" strike="noStrike" baseline="0" dirty="0" smtClean="0">
                          <a:solidFill>
                            <a:srgbClr val="000000"/>
                          </a:solidFill>
                          <a:effectLst/>
                          <a:latin typeface="Janna LT"/>
                        </a:rPr>
                        <a:t> ضمان </a:t>
                      </a:r>
                      <a:r>
                        <a:rPr lang="en-US" sz="1200" b="0" i="0" u="none" strike="noStrike" baseline="0" dirty="0" smtClean="0">
                          <a:solidFill>
                            <a:srgbClr val="000000"/>
                          </a:solidFill>
                          <a:effectLst/>
                          <a:latin typeface="Janna LT"/>
                        </a:rPr>
                        <a:t>CGS</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ar-SA" sz="1600" b="1" dirty="0">
                          <a:solidFill>
                            <a:schemeClr val="tx1"/>
                          </a:solidFill>
                        </a:rPr>
                        <a:t>سبب التعثر </a:t>
                      </a:r>
                      <a:endParaRPr lang="en-US" sz="1600" b="1" dirty="0">
                        <a:solidFill>
                          <a:schemeClr val="tx1"/>
                        </a:solidFill>
                      </a:endParaRPr>
                    </a:p>
                  </a:txBody>
                  <a:tcPr anchor="ctr">
                    <a:solidFill>
                      <a:srgbClr val="9CC2E5"/>
                    </a:solidFill>
                  </a:tcPr>
                </a:tc>
                <a:extLst>
                  <a:ext uri="{0D108BD9-81ED-4DB2-BD59-A6C34878D82A}">
                    <a16:rowId xmlns="" xmlns:a16="http://schemas.microsoft.com/office/drawing/2014/main" val="2809198240"/>
                  </a:ext>
                </a:extLst>
              </a:tr>
              <a:tr h="568866">
                <a:tc>
                  <a:txBody>
                    <a:bodyPr/>
                    <a:lstStyle/>
                    <a:p>
                      <a:pPr marR="0" algn="ctr" rtl="1" fontAlgn="b">
                        <a:lnSpc>
                          <a:spcPct val="100000"/>
                        </a:lnSpc>
                        <a:spcBef>
                          <a:spcPts val="0"/>
                        </a:spcBef>
                        <a:spcAft>
                          <a:spcPts val="0"/>
                        </a:spcAft>
                        <a:buClr>
                          <a:srgbClr val="000000"/>
                        </a:buClr>
                        <a:buFont typeface="Arial"/>
                      </a:pPr>
                      <a:r>
                        <a:rPr lang="ar-SA" sz="1400" b="1" i="0" u="none" strike="noStrike" cap="none" dirty="0" smtClean="0">
                          <a:solidFill>
                            <a:srgbClr val="000000"/>
                          </a:solidFill>
                          <a:effectLst/>
                          <a:latin typeface="+mn-lt"/>
                          <a:ea typeface="+mn-ea"/>
                          <a:cs typeface="+mn-cs"/>
                          <a:sym typeface="Arial"/>
                        </a:rPr>
                        <a:t>عدم</a:t>
                      </a:r>
                      <a:r>
                        <a:rPr lang="ar-SA" sz="1400" b="1" i="0" u="none" strike="noStrike" cap="none" baseline="0" dirty="0" smtClean="0">
                          <a:solidFill>
                            <a:srgbClr val="000000"/>
                          </a:solidFill>
                          <a:effectLst/>
                          <a:latin typeface="+mn-lt"/>
                          <a:ea typeface="+mn-ea"/>
                          <a:cs typeface="+mn-cs"/>
                          <a:sym typeface="Arial"/>
                        </a:rPr>
                        <a:t> صيانة المركبة لدى الوكيل مرة واحدة</a:t>
                      </a:r>
                      <a:endParaRPr lang="ar-EG" sz="1400" b="1" i="0" u="none" strike="noStrike" cap="none" dirty="0">
                        <a:solidFill>
                          <a:srgbClr val="000000"/>
                        </a:solidFill>
                        <a:effectLst/>
                        <a:latin typeface="+mn-lt"/>
                        <a:ea typeface="+mn-ea"/>
                        <a:cs typeface="+mn-cs"/>
                        <a:sym typeface="Arial"/>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 xmlns:a16="http://schemas.microsoft.com/office/drawing/2014/main" val="930193976"/>
                  </a:ext>
                </a:extLst>
              </a:tr>
              <a:tr h="742906">
                <a:tc>
                  <a:txBody>
                    <a:bodyPr/>
                    <a:lstStyle/>
                    <a:p>
                      <a:pPr algn="ctr" rtl="1" fontAlgn="b"/>
                      <a:r>
                        <a:rPr lang="ar-SA" sz="1200" b="0" i="0" u="none" strike="noStrike" dirty="0" smtClean="0">
                          <a:solidFill>
                            <a:srgbClr val="000000"/>
                          </a:solidFill>
                          <a:effectLst/>
                          <a:latin typeface="Janna LT"/>
                        </a:rPr>
                        <a:t>صيانة كل مركبة لدى الوكيل مرة واحدة</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 xmlns:a16="http://schemas.microsoft.com/office/drawing/2014/main" val="2177976009"/>
                  </a:ext>
                </a:extLst>
              </a:tr>
              <a:tr h="1119905">
                <a:tc>
                  <a:txBody>
                    <a:bodyPr/>
                    <a:lstStyle/>
                    <a:p>
                      <a:pPr algn="ctr" rtl="1" fontAlgn="b"/>
                      <a:r>
                        <a:rPr lang="ar-SA" sz="1200" b="0" i="0" u="none" strike="noStrike" dirty="0" smtClean="0">
                          <a:solidFill>
                            <a:srgbClr val="000000"/>
                          </a:solidFill>
                          <a:effectLst/>
                          <a:latin typeface="Janna LT"/>
                        </a:rPr>
                        <a:t>خروج المركبة من الضمان </a:t>
                      </a:r>
                      <a:r>
                        <a:rPr lang="ar-EG" sz="1200" b="0" i="0" u="none" strike="noStrike" dirty="0" smtClean="0">
                          <a:solidFill>
                            <a:srgbClr val="000000"/>
                          </a:solidFill>
                          <a:effectLst/>
                          <a:latin typeface="Janna LT"/>
                        </a:rPr>
                        <a:t>.  </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 xmlns:a16="http://schemas.microsoft.com/office/drawing/2014/main" val="3195214518"/>
                  </a:ext>
                </a:extLst>
              </a:tr>
              <a:tr h="742906">
                <a:tc>
                  <a:txBody>
                    <a:bodyPr/>
                    <a:lstStyle/>
                    <a:p>
                      <a:pPr algn="ctr" rtl="1" fontAlgn="b"/>
                      <a:r>
                        <a:rPr lang="ar-SA" sz="1200" b="0" i="0" u="none" strike="noStrike" dirty="0" smtClean="0">
                          <a:solidFill>
                            <a:srgbClr val="000000"/>
                          </a:solidFill>
                          <a:effectLst/>
                          <a:latin typeface="Janna LT"/>
                        </a:rPr>
                        <a:t>صيانة المركبة لعدم</a:t>
                      </a:r>
                      <a:r>
                        <a:rPr lang="ar-SA" sz="1200" b="0" i="0" u="none" strike="noStrike" baseline="0" dirty="0" smtClean="0">
                          <a:solidFill>
                            <a:srgbClr val="000000"/>
                          </a:solidFill>
                          <a:effectLst/>
                          <a:latin typeface="Janna LT"/>
                        </a:rPr>
                        <a:t> خروجها من تغطية الضمان</a:t>
                      </a:r>
                      <a:endParaRPr lang="ar-EG" sz="1200" b="0"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 xmlns:a16="http://schemas.microsoft.com/office/drawing/2014/main" val="1252557231"/>
                  </a:ext>
                </a:extLst>
              </a:tr>
            </a:tbl>
          </a:graphicData>
        </a:graphic>
      </p:graphicFrame>
    </p:spTree>
    <p:extLst>
      <p:ext uri="{BB962C8B-B14F-4D97-AF65-F5344CB8AC3E}">
        <p14:creationId xmlns:p14="http://schemas.microsoft.com/office/powerpoint/2010/main" val="1464319162"/>
      </p:ext>
    </p:extLst>
  </p:cSld>
  <p:clrMapOvr>
    <a:masterClrMapping/>
  </p:clrMapOvr>
</p:sld>
</file>

<file path=ppt/theme/theme1.xml><?xml version="1.0" encoding="utf-8"?>
<a:theme xmlns:a="http://schemas.openxmlformats.org/drawingml/2006/main" name="Logistics Warehouse Marketing Plan by Slidesgo">
  <a:themeElements>
    <a:clrScheme name="Simple Light">
      <a:dk1>
        <a:srgbClr val="595959"/>
      </a:dk1>
      <a:lt1>
        <a:srgbClr val="708C61"/>
      </a:lt1>
      <a:dk2>
        <a:srgbClr val="EEEEEE"/>
      </a:dk2>
      <a:lt2>
        <a:srgbClr val="C7C5C5"/>
      </a:lt2>
      <a:accent1>
        <a:srgbClr val="9E9E9E"/>
      </a:accent1>
      <a:accent2>
        <a:srgbClr val="B29B53"/>
      </a:accent2>
      <a:accent3>
        <a:srgbClr val="FFFFFF"/>
      </a:accent3>
      <a:accent4>
        <a:srgbClr val="FFFFFF"/>
      </a:accent4>
      <a:accent5>
        <a:srgbClr val="FFFFFF"/>
      </a:accent5>
      <a:accent6>
        <a:srgbClr val="FFFFFF"/>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215</Words>
  <Application>Microsoft Office PowerPoint</Application>
  <PresentationFormat>On-screen Show (16:9)</PresentationFormat>
  <Paragraphs>38</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Exo 2</vt:lpstr>
      <vt:lpstr>Raleway</vt:lpstr>
      <vt:lpstr>Hacen Casablanca</vt:lpstr>
      <vt:lpstr>Janna LT</vt:lpstr>
      <vt:lpstr>Exo 2 ExtraBold</vt:lpstr>
      <vt:lpstr>Arial</vt:lpstr>
      <vt:lpstr>Logistics Warehouse Marketing Plan by Slidesgo</vt:lpstr>
      <vt:lpstr>سجل التعثرات </vt:lpstr>
      <vt:lpstr>مقدمة </vt:lpstr>
      <vt:lpstr>الخدمات المساندة</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نيو لاين  للخدمات اللوجيستية   </dc:title>
  <cp:lastModifiedBy>Microsoft account</cp:lastModifiedBy>
  <cp:revision>34</cp:revision>
  <dcterms:modified xsi:type="dcterms:W3CDTF">2024-01-17T16:24:53Z</dcterms:modified>
</cp:coreProperties>
</file>