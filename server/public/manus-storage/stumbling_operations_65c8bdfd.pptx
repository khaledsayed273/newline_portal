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1"/>
  </p:notesMasterIdLst>
  <p:sldIdLst>
    <p:sldId id="256" r:id="rId2"/>
    <p:sldId id="349" r:id="rId3"/>
    <p:sldId id="298" r:id="rId4"/>
    <p:sldId id="299" r:id="rId5"/>
    <p:sldId id="351" r:id="rId6"/>
    <p:sldId id="352" r:id="rId7"/>
    <p:sldId id="353" r:id="rId8"/>
    <p:sldId id="354" r:id="rId9"/>
    <p:sldId id="355" r:id="rId10"/>
  </p:sldIdLst>
  <p:sldSz cx="9144000" cy="5143500" type="screen16x9"/>
  <p:notesSz cx="6858000" cy="9144000"/>
  <p:embeddedFontLst>
    <p:embeddedFont>
      <p:font typeface="Exo 2" pitchFamily="2" charset="0"/>
      <p:regular r:id="rId12"/>
      <p:bold r:id="rId13"/>
      <p:italic r:id="rId14"/>
      <p:boldItalic r:id="rId15"/>
    </p:embeddedFont>
    <p:embeddedFont>
      <p:font typeface="Exo 2 ExtraBold" pitchFamily="2" charset="0"/>
      <p:bold r:id="rId16"/>
      <p:boldItalic r:id="rId17"/>
    </p:embeddedFont>
    <p:embeddedFont>
      <p:font typeface="Hacen Casablanca" panose="02000000000000000000" pitchFamily="2" charset="-78"/>
      <p:regular r:id="rId18"/>
    </p:embeddedFont>
    <p:embeddedFont>
      <p:font typeface="Raleway"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C2E5"/>
    <a:srgbClr val="3BA0D8"/>
    <a:srgbClr val="006666"/>
    <a:srgbClr val="595959"/>
    <a:srgbClr val="238C8F"/>
    <a:srgbClr val="71B1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1C069A-F128-4123-B749-E4AC610A060D}" v="56" dt="2023-08-22T10:28:42.780"/>
  </p1510:revLst>
</p1510:revInfo>
</file>

<file path=ppt/tableStyles.xml><?xml version="1.0" encoding="utf-8"?>
<a:tblStyleLst xmlns:a="http://schemas.openxmlformats.org/drawingml/2006/main" def="{AEBA9E80-4697-4D0B-BF8A-9444AFE1D11E}">
  <a:tblStyle styleId="{AEBA9E80-4697-4D0B-BF8A-9444AFE1D1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BB6936-896A-453C-BF1C-AF00902E67E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364" autoAdjust="0"/>
  </p:normalViewPr>
  <p:slideViewPr>
    <p:cSldViewPr snapToGrid="0">
      <p:cViewPr varScale="1">
        <p:scale>
          <a:sx n="104" d="100"/>
          <a:sy n="104" d="100"/>
        </p:scale>
        <p:origin x="85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fathe" userId="9c353596558b8af7" providerId="LiveId" clId="{7E4ADBC7-C37F-4400-999B-D3FF9CA0BF85}"/>
    <pc:docChg chg="delSld">
      <pc:chgData name="mohamed fathe" userId="9c353596558b8af7" providerId="LiveId" clId="{7E4ADBC7-C37F-4400-999B-D3FF9CA0BF85}" dt="2023-08-22T10:48:51.514" v="0" actId="47"/>
      <pc:docMkLst>
        <pc:docMk/>
      </pc:docMkLst>
      <pc:sldChg chg="del">
        <pc:chgData name="mohamed fathe" userId="9c353596558b8af7" providerId="LiveId" clId="{7E4ADBC7-C37F-4400-999B-D3FF9CA0BF85}" dt="2023-08-22T10:48:51.514" v="0" actId="47"/>
        <pc:sldMkLst>
          <pc:docMk/>
          <pc:sldMk cId="285990550" sldId="3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2c05e9c76f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22c05e9c76f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grpSp>
        <p:nvGrpSpPr>
          <p:cNvPr id="9" name="Google Shape;9;p2"/>
          <p:cNvGrpSpPr/>
          <p:nvPr/>
        </p:nvGrpSpPr>
        <p:grpSpPr>
          <a:xfrm rot="5400000">
            <a:off x="5186375" y="-1651450"/>
            <a:ext cx="5516000" cy="3480375"/>
            <a:chOff x="1052575" y="238400"/>
            <a:chExt cx="5516000" cy="3480375"/>
          </a:xfrm>
        </p:grpSpPr>
        <p:sp>
          <p:nvSpPr>
            <p:cNvPr id="10" name="Google Shape;10;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2;p2"/>
          <p:cNvSpPr/>
          <p:nvPr/>
        </p:nvSpPr>
        <p:spPr>
          <a:xfrm>
            <a:off x="7822250" y="4608500"/>
            <a:ext cx="13218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txBox="1">
            <a:spLocks noGrp="1"/>
          </p:cNvSpPr>
          <p:nvPr>
            <p:ph type="ctrTitle"/>
          </p:nvPr>
        </p:nvSpPr>
        <p:spPr>
          <a:xfrm>
            <a:off x="715170" y="535000"/>
            <a:ext cx="5517900" cy="2382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800" b="0">
                <a:latin typeface="Exo 2 ExtraBold"/>
                <a:ea typeface="Exo 2 ExtraBold"/>
                <a:cs typeface="Exo 2 ExtraBold"/>
                <a:sym typeface="Exo 2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44" name="Google Shape;44;p2"/>
          <p:cNvSpPr txBox="1">
            <a:spLocks noGrp="1"/>
          </p:cNvSpPr>
          <p:nvPr>
            <p:ph type="subTitle" idx="1"/>
          </p:nvPr>
        </p:nvSpPr>
        <p:spPr>
          <a:xfrm>
            <a:off x="715100" y="2908025"/>
            <a:ext cx="5517900" cy="409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atin typeface="Exo 2"/>
                <a:ea typeface="Exo 2"/>
                <a:cs typeface="Exo 2"/>
                <a:sym typeface="Exo 2"/>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45" name="Google Shape;45;p2"/>
          <p:cNvGrpSpPr/>
          <p:nvPr/>
        </p:nvGrpSpPr>
        <p:grpSpPr>
          <a:xfrm rot="142369" flipH="1">
            <a:off x="-590321" y="3661794"/>
            <a:ext cx="5515765" cy="3480227"/>
            <a:chOff x="1052575" y="238400"/>
            <a:chExt cx="5516000" cy="3480375"/>
          </a:xfrm>
        </p:grpSpPr>
        <p:sp>
          <p:nvSpPr>
            <p:cNvPr id="46" name="Google Shape;4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2"/>
          <p:cNvSpPr>
            <a:spLocks noGrp="1"/>
          </p:cNvSpPr>
          <p:nvPr>
            <p:ph type="pic" idx="2"/>
          </p:nvPr>
        </p:nvSpPr>
        <p:spPr>
          <a:xfrm>
            <a:off x="6607200" y="366350"/>
            <a:ext cx="2536800" cy="42423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4"/>
        <p:cNvGrpSpPr/>
        <p:nvPr/>
      </p:nvGrpSpPr>
      <p:grpSpPr>
        <a:xfrm>
          <a:off x="0" y="0"/>
          <a:ext cx="0" cy="0"/>
          <a:chOff x="0" y="0"/>
          <a:chExt cx="0" cy="0"/>
        </a:xfrm>
      </p:grpSpPr>
      <p:sp>
        <p:nvSpPr>
          <p:cNvPr id="305" name="Google Shape;305;p8"/>
          <p:cNvSpPr txBox="1">
            <a:spLocks noGrp="1"/>
          </p:cNvSpPr>
          <p:nvPr>
            <p:ph type="title"/>
          </p:nvPr>
        </p:nvSpPr>
        <p:spPr>
          <a:xfrm>
            <a:off x="715100" y="1593500"/>
            <a:ext cx="48915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06" name="Google Shape;306;p8"/>
          <p:cNvGrpSpPr/>
          <p:nvPr/>
        </p:nvGrpSpPr>
        <p:grpSpPr>
          <a:xfrm rot="8659666" flipH="1">
            <a:off x="-1924641" y="-1625129"/>
            <a:ext cx="5515550" cy="3480091"/>
            <a:chOff x="1052575" y="238400"/>
            <a:chExt cx="5516000" cy="3480375"/>
          </a:xfrm>
        </p:grpSpPr>
        <p:sp>
          <p:nvSpPr>
            <p:cNvPr id="307" name="Google Shape;307;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8"/>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8"/>
          <p:cNvSpPr/>
          <p:nvPr/>
        </p:nvSpPr>
        <p:spPr>
          <a:xfrm rot="5400000" flipH="1">
            <a:off x="7057325" y="-1098500"/>
            <a:ext cx="992100" cy="3189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1" name="Google Shape;341;p8"/>
          <p:cNvSpPr>
            <a:spLocks noGrp="1"/>
          </p:cNvSpPr>
          <p:nvPr>
            <p:ph type="pic" idx="2"/>
          </p:nvPr>
        </p:nvSpPr>
        <p:spPr>
          <a:xfrm>
            <a:off x="5958875" y="992050"/>
            <a:ext cx="3185100" cy="4151400"/>
          </a:xfrm>
          <a:prstGeom prst="rect">
            <a:avLst/>
          </a:prstGeom>
          <a:noFill/>
          <a:ln w="9525" cap="flat" cmpd="sng">
            <a:solidFill>
              <a:schemeClr val="dk1"/>
            </a:solidFill>
            <a:prstDash val="solid"/>
            <a:round/>
            <a:headEnd type="none" w="sm" len="sm"/>
            <a:tailEnd type="none" w="sm" len="sm"/>
          </a:ln>
        </p:spPr>
      </p:sp>
      <p:grpSp>
        <p:nvGrpSpPr>
          <p:cNvPr id="342" name="Google Shape;342;p8"/>
          <p:cNvGrpSpPr/>
          <p:nvPr/>
        </p:nvGrpSpPr>
        <p:grpSpPr>
          <a:xfrm>
            <a:off x="176265" y="225422"/>
            <a:ext cx="1313711" cy="919193"/>
            <a:chOff x="270040" y="4091722"/>
            <a:chExt cx="1313711" cy="919193"/>
          </a:xfrm>
        </p:grpSpPr>
        <p:grpSp>
          <p:nvGrpSpPr>
            <p:cNvPr id="343" name="Google Shape;343;p8"/>
            <p:cNvGrpSpPr/>
            <p:nvPr/>
          </p:nvGrpSpPr>
          <p:grpSpPr>
            <a:xfrm>
              <a:off x="270040" y="4224538"/>
              <a:ext cx="1313711" cy="786377"/>
              <a:chOff x="270040" y="4224538"/>
              <a:chExt cx="1313711" cy="786377"/>
            </a:xfrm>
          </p:grpSpPr>
          <p:grpSp>
            <p:nvGrpSpPr>
              <p:cNvPr id="344" name="Google Shape;344;p8"/>
              <p:cNvGrpSpPr/>
              <p:nvPr/>
            </p:nvGrpSpPr>
            <p:grpSpPr>
              <a:xfrm>
                <a:off x="1339015" y="4224538"/>
                <a:ext cx="244736" cy="491002"/>
                <a:chOff x="3013775" y="4188704"/>
                <a:chExt cx="288842" cy="579490"/>
              </a:xfrm>
            </p:grpSpPr>
            <p:sp>
              <p:nvSpPr>
                <p:cNvPr id="345" name="Google Shape;345;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8"/>
              <p:cNvGrpSpPr/>
              <p:nvPr/>
            </p:nvGrpSpPr>
            <p:grpSpPr>
              <a:xfrm>
                <a:off x="270040" y="4519913"/>
                <a:ext cx="244736" cy="491002"/>
                <a:chOff x="3013775" y="4188704"/>
                <a:chExt cx="288842" cy="579490"/>
              </a:xfrm>
            </p:grpSpPr>
            <p:sp>
              <p:nvSpPr>
                <p:cNvPr id="348" name="Google Shape;348;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 name="Google Shape;350;p8"/>
            <p:cNvGrpSpPr/>
            <p:nvPr/>
          </p:nvGrpSpPr>
          <p:grpSpPr>
            <a:xfrm>
              <a:off x="846257" y="4091722"/>
              <a:ext cx="161293" cy="323342"/>
              <a:chOff x="8502607" y="4039472"/>
              <a:chExt cx="161293" cy="323342"/>
            </a:xfrm>
          </p:grpSpPr>
          <p:sp>
            <p:nvSpPr>
              <p:cNvPr id="351" name="Google Shape;351;p8"/>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3"/>
        <p:cNvGrpSpPr/>
        <p:nvPr/>
      </p:nvGrpSpPr>
      <p:grpSpPr>
        <a:xfrm>
          <a:off x="0" y="0"/>
          <a:ext cx="0" cy="0"/>
          <a:chOff x="0" y="0"/>
          <a:chExt cx="0" cy="0"/>
        </a:xfrm>
      </p:grpSpPr>
      <p:sp>
        <p:nvSpPr>
          <p:cNvPr id="354" name="Google Shape;354;p9"/>
          <p:cNvSpPr txBox="1">
            <a:spLocks noGrp="1"/>
          </p:cNvSpPr>
          <p:nvPr>
            <p:ph type="title"/>
          </p:nvPr>
        </p:nvSpPr>
        <p:spPr>
          <a:xfrm>
            <a:off x="2241425" y="18265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55" name="Google Shape;355;p9"/>
          <p:cNvSpPr txBox="1">
            <a:spLocks noGrp="1"/>
          </p:cNvSpPr>
          <p:nvPr>
            <p:ph type="subTitle" idx="1"/>
          </p:nvPr>
        </p:nvSpPr>
        <p:spPr>
          <a:xfrm>
            <a:off x="2241475" y="27020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6" name="Google Shape;356;p9"/>
          <p:cNvSpPr>
            <a:spLocks noGrp="1"/>
          </p:cNvSpPr>
          <p:nvPr>
            <p:ph type="pic" idx="2"/>
          </p:nvPr>
        </p:nvSpPr>
        <p:spPr>
          <a:xfrm>
            <a:off x="-6625" y="3325"/>
            <a:ext cx="3375300" cy="1513800"/>
          </a:xfrm>
          <a:prstGeom prst="rect">
            <a:avLst/>
          </a:prstGeom>
          <a:noFill/>
          <a:ln w="9525" cap="flat" cmpd="sng">
            <a:solidFill>
              <a:schemeClr val="dk1"/>
            </a:solidFill>
            <a:prstDash val="solid"/>
            <a:round/>
            <a:headEnd type="none" w="sm" len="sm"/>
            <a:tailEnd type="none" w="sm" len="sm"/>
          </a:ln>
        </p:spPr>
      </p:sp>
      <p:grpSp>
        <p:nvGrpSpPr>
          <p:cNvPr id="357" name="Google Shape;357;p9"/>
          <p:cNvGrpSpPr/>
          <p:nvPr/>
        </p:nvGrpSpPr>
        <p:grpSpPr>
          <a:xfrm rot="8659666" flipH="1">
            <a:off x="4975959" y="3748046"/>
            <a:ext cx="5515550" cy="3480091"/>
            <a:chOff x="1052575" y="238400"/>
            <a:chExt cx="5516000" cy="3480375"/>
          </a:xfrm>
        </p:grpSpPr>
        <p:sp>
          <p:nvSpPr>
            <p:cNvPr id="358" name="Google Shape;358;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9"/>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rot="5400000" flipH="1">
            <a:off x="5833025" y="-2452375"/>
            <a:ext cx="862500" cy="5767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392" name="Google Shape;392;p9"/>
          <p:cNvGrpSpPr/>
          <p:nvPr/>
        </p:nvGrpSpPr>
        <p:grpSpPr>
          <a:xfrm>
            <a:off x="7115190" y="4030347"/>
            <a:ext cx="1313711" cy="919193"/>
            <a:chOff x="270040" y="4091722"/>
            <a:chExt cx="1313711" cy="919193"/>
          </a:xfrm>
        </p:grpSpPr>
        <p:grpSp>
          <p:nvGrpSpPr>
            <p:cNvPr id="393" name="Google Shape;393;p9"/>
            <p:cNvGrpSpPr/>
            <p:nvPr/>
          </p:nvGrpSpPr>
          <p:grpSpPr>
            <a:xfrm>
              <a:off x="270040" y="4224538"/>
              <a:ext cx="1313711" cy="786377"/>
              <a:chOff x="270040" y="4224538"/>
              <a:chExt cx="1313711" cy="786377"/>
            </a:xfrm>
          </p:grpSpPr>
          <p:grpSp>
            <p:nvGrpSpPr>
              <p:cNvPr id="394" name="Google Shape;394;p9"/>
              <p:cNvGrpSpPr/>
              <p:nvPr/>
            </p:nvGrpSpPr>
            <p:grpSpPr>
              <a:xfrm>
                <a:off x="1339015" y="4224538"/>
                <a:ext cx="244736" cy="491002"/>
                <a:chOff x="3013775" y="4188704"/>
                <a:chExt cx="288842" cy="579490"/>
              </a:xfrm>
            </p:grpSpPr>
            <p:sp>
              <p:nvSpPr>
                <p:cNvPr id="395" name="Google Shape;395;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9"/>
              <p:cNvGrpSpPr/>
              <p:nvPr/>
            </p:nvGrpSpPr>
            <p:grpSpPr>
              <a:xfrm>
                <a:off x="270040" y="4519913"/>
                <a:ext cx="244736" cy="491002"/>
                <a:chOff x="3013775" y="4188704"/>
                <a:chExt cx="288842" cy="579490"/>
              </a:xfrm>
            </p:grpSpPr>
            <p:sp>
              <p:nvSpPr>
                <p:cNvPr id="398" name="Google Shape;398;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0" name="Google Shape;400;p9"/>
            <p:cNvGrpSpPr/>
            <p:nvPr/>
          </p:nvGrpSpPr>
          <p:grpSpPr>
            <a:xfrm>
              <a:off x="846257" y="4091722"/>
              <a:ext cx="161293" cy="323342"/>
              <a:chOff x="8502607" y="4039472"/>
              <a:chExt cx="161293" cy="323342"/>
            </a:xfrm>
          </p:grpSpPr>
          <p:sp>
            <p:nvSpPr>
              <p:cNvPr id="401" name="Google Shape;401;p9"/>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3"/>
        <p:cNvGrpSpPr/>
        <p:nvPr/>
      </p:nvGrpSpPr>
      <p:grpSpPr>
        <a:xfrm>
          <a:off x="0" y="0"/>
          <a:ext cx="0" cy="0"/>
          <a:chOff x="0" y="0"/>
          <a:chExt cx="0" cy="0"/>
        </a:xfrm>
      </p:grpSpPr>
      <p:sp>
        <p:nvSpPr>
          <p:cNvPr id="404" name="Google Shape;404;p10"/>
          <p:cNvSpPr txBox="1">
            <a:spLocks noGrp="1"/>
          </p:cNvSpPr>
          <p:nvPr>
            <p:ph type="title"/>
          </p:nvPr>
        </p:nvSpPr>
        <p:spPr>
          <a:xfrm>
            <a:off x="720000" y="3859100"/>
            <a:ext cx="7704000" cy="7494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44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89"/>
        <p:cNvGrpSpPr/>
        <p:nvPr/>
      </p:nvGrpSpPr>
      <p:grpSpPr>
        <a:xfrm>
          <a:off x="0" y="0"/>
          <a:ext cx="0" cy="0"/>
          <a:chOff x="0" y="0"/>
          <a:chExt cx="0" cy="0"/>
        </a:xfrm>
      </p:grpSpPr>
      <p:grpSp>
        <p:nvGrpSpPr>
          <p:cNvPr id="890" name="Google Shape;890;p24"/>
          <p:cNvGrpSpPr/>
          <p:nvPr/>
        </p:nvGrpSpPr>
        <p:grpSpPr>
          <a:xfrm rot="1866847">
            <a:off x="5881110" y="-1807480"/>
            <a:ext cx="5010622" cy="3161502"/>
            <a:chOff x="1052575" y="238400"/>
            <a:chExt cx="5516000" cy="3480375"/>
          </a:xfrm>
        </p:grpSpPr>
        <p:sp>
          <p:nvSpPr>
            <p:cNvPr id="891" name="Google Shape;891;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3" name="Google Shape;923;p24"/>
          <p:cNvSpPr/>
          <p:nvPr/>
        </p:nvSpPr>
        <p:spPr>
          <a:xfrm>
            <a:off x="8428900" y="4608500"/>
            <a:ext cx="7152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0" y="2614300"/>
            <a:ext cx="374100" cy="26976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 name="Google Shape;925;p24"/>
          <p:cNvGrpSpPr/>
          <p:nvPr/>
        </p:nvGrpSpPr>
        <p:grpSpPr>
          <a:xfrm flipH="1">
            <a:off x="8498150" y="169365"/>
            <a:ext cx="417780" cy="1041313"/>
            <a:chOff x="8066475" y="169365"/>
            <a:chExt cx="417780" cy="1041313"/>
          </a:xfrm>
        </p:grpSpPr>
        <p:grpSp>
          <p:nvGrpSpPr>
            <p:cNvPr id="926" name="Google Shape;926;p24"/>
            <p:cNvGrpSpPr/>
            <p:nvPr/>
          </p:nvGrpSpPr>
          <p:grpSpPr>
            <a:xfrm>
              <a:off x="8252015" y="602886"/>
              <a:ext cx="232240" cy="607792"/>
              <a:chOff x="6614891" y="872016"/>
              <a:chExt cx="725750" cy="1899350"/>
            </a:xfrm>
          </p:grpSpPr>
          <p:sp>
            <p:nvSpPr>
              <p:cNvPr id="927" name="Google Shape;927;p24"/>
              <p:cNvSpPr/>
              <p:nvPr/>
            </p:nvSpPr>
            <p:spPr>
              <a:xfrm>
                <a:off x="6614891" y="872016"/>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6787541" y="1033366"/>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24"/>
            <p:cNvGrpSpPr/>
            <p:nvPr/>
          </p:nvGrpSpPr>
          <p:grpSpPr>
            <a:xfrm>
              <a:off x="8066475" y="169365"/>
              <a:ext cx="139707" cy="365625"/>
              <a:chOff x="7963875" y="796000"/>
              <a:chExt cx="725750" cy="1899350"/>
            </a:xfrm>
          </p:grpSpPr>
          <p:sp>
            <p:nvSpPr>
              <p:cNvPr id="930" name="Google Shape;930;p24"/>
              <p:cNvSpPr/>
              <p:nvPr/>
            </p:nvSpPr>
            <p:spPr>
              <a:xfrm>
                <a:off x="7963875" y="796000"/>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8136525" y="957350"/>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932"/>
        <p:cNvGrpSpPr/>
        <p:nvPr/>
      </p:nvGrpSpPr>
      <p:grpSpPr>
        <a:xfrm>
          <a:off x="0" y="0"/>
          <a:ext cx="0" cy="0"/>
          <a:chOff x="0" y="0"/>
          <a:chExt cx="0" cy="0"/>
        </a:xfrm>
      </p:grpSpPr>
      <p:grpSp>
        <p:nvGrpSpPr>
          <p:cNvPr id="933" name="Google Shape;933;p25"/>
          <p:cNvGrpSpPr/>
          <p:nvPr/>
        </p:nvGrpSpPr>
        <p:grpSpPr>
          <a:xfrm rot="-798115">
            <a:off x="4827175" y="4213988"/>
            <a:ext cx="5010572" cy="3161470"/>
            <a:chOff x="1052575" y="238400"/>
            <a:chExt cx="5516000" cy="3480375"/>
          </a:xfrm>
        </p:grpSpPr>
        <p:sp>
          <p:nvSpPr>
            <p:cNvPr id="934" name="Google Shape;934;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25"/>
          <p:cNvSpPr/>
          <p:nvPr/>
        </p:nvSpPr>
        <p:spPr>
          <a:xfrm>
            <a:off x="0" y="0"/>
            <a:ext cx="23049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5"/>
          <p:cNvSpPr/>
          <p:nvPr/>
        </p:nvSpPr>
        <p:spPr>
          <a:xfrm rot="10800000">
            <a:off x="8769900" y="2519400"/>
            <a:ext cx="374100" cy="2624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968;p25"/>
          <p:cNvGrpSpPr/>
          <p:nvPr/>
        </p:nvGrpSpPr>
        <p:grpSpPr>
          <a:xfrm>
            <a:off x="7602890" y="4173222"/>
            <a:ext cx="1048828" cy="705093"/>
            <a:chOff x="7602890" y="4173222"/>
            <a:chExt cx="1048828" cy="705093"/>
          </a:xfrm>
        </p:grpSpPr>
        <p:grpSp>
          <p:nvGrpSpPr>
            <p:cNvPr id="969" name="Google Shape;969;p25"/>
            <p:cNvGrpSpPr/>
            <p:nvPr/>
          </p:nvGrpSpPr>
          <p:grpSpPr>
            <a:xfrm>
              <a:off x="7602890" y="4387313"/>
              <a:ext cx="244736" cy="491002"/>
              <a:chOff x="3013775" y="4188704"/>
              <a:chExt cx="288842" cy="579490"/>
            </a:xfrm>
          </p:grpSpPr>
          <p:sp>
            <p:nvSpPr>
              <p:cNvPr id="970" name="Google Shape;970;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25"/>
            <p:cNvGrpSpPr/>
            <p:nvPr/>
          </p:nvGrpSpPr>
          <p:grpSpPr>
            <a:xfrm>
              <a:off x="8490457" y="4173222"/>
              <a:ext cx="161261" cy="323529"/>
              <a:chOff x="3013775" y="4188704"/>
              <a:chExt cx="288842" cy="579490"/>
            </a:xfrm>
          </p:grpSpPr>
          <p:sp>
            <p:nvSpPr>
              <p:cNvPr id="973" name="Google Shape;973;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1_Title and two 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5077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ExtraBold"/>
              <a:buNone/>
              <a:defRPr sz="2800">
                <a:solidFill>
                  <a:schemeClr val="dk1"/>
                </a:solidFill>
                <a:latin typeface="Exo 2 ExtraBold"/>
                <a:ea typeface="Exo 2 ExtraBold"/>
                <a:cs typeface="Exo 2 ExtraBold"/>
                <a:sym typeface="Exo 2 ExtraBol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1pPr>
            <a:lvl2pPr marL="914400" lvl="1"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2pPr>
            <a:lvl3pPr marL="1371600" lvl="2"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3pPr>
            <a:lvl4pPr marL="1828800" lvl="3"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4pPr>
            <a:lvl5pPr marL="2286000" lvl="4"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5pPr>
            <a:lvl6pPr marL="2743200" lvl="5"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6pPr>
            <a:lvl7pPr marL="3200400" lvl="6"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7pPr>
            <a:lvl8pPr marL="3657600" lvl="7"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8pPr>
            <a:lvl9pPr marL="4114800" lvl="8"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6" r:id="rId4"/>
    <p:sldLayoutId id="2147483658" r:id="rId5"/>
    <p:sldLayoutId id="2147483670" r:id="rId6"/>
    <p:sldLayoutId id="2147483671" r:id="rId7"/>
    <p:sldLayoutId id="214748367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84"/>
        <p:cNvGrpSpPr/>
        <p:nvPr/>
      </p:nvGrpSpPr>
      <p:grpSpPr>
        <a:xfrm>
          <a:off x="0" y="0"/>
          <a:ext cx="0" cy="0"/>
          <a:chOff x="0" y="0"/>
          <a:chExt cx="0" cy="0"/>
        </a:xfrm>
      </p:grpSpPr>
      <p:sp>
        <p:nvSpPr>
          <p:cNvPr id="986" name="Google Shape;986;p29"/>
          <p:cNvSpPr txBox="1">
            <a:spLocks noGrp="1"/>
          </p:cNvSpPr>
          <p:nvPr>
            <p:ph type="ctrTitle"/>
          </p:nvPr>
        </p:nvSpPr>
        <p:spPr>
          <a:xfrm>
            <a:off x="1987107" y="1936955"/>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p>
            <a:pPr lvl="0" algn="ctr"/>
            <a:r>
              <a:rPr lang="ar-SA" sz="2000" b="1" dirty="0">
                <a:solidFill>
                  <a:srgbClr val="3BA0D8"/>
                </a:solidFill>
                <a:latin typeface="Hacen Casablanca" panose="02000000000000000000" pitchFamily="2" charset="-78"/>
                <a:cs typeface="Hacen Casablanca" panose="02000000000000000000" pitchFamily="2" charset="-78"/>
              </a:rPr>
              <a:t>سجل التعثرات </a:t>
            </a:r>
            <a:endParaRPr sz="2000" dirty="0">
              <a:solidFill>
                <a:srgbClr val="3BA0D8"/>
              </a:solidFill>
              <a:latin typeface="Hacen Casablanca" panose="02000000000000000000" pitchFamily="2" charset="-78"/>
              <a:cs typeface="Hacen Casablanca" panose="02000000000000000000" pitchFamily="2" charset="-78"/>
            </a:endParaRPr>
          </a:p>
        </p:txBody>
      </p:sp>
      <p:sp>
        <p:nvSpPr>
          <p:cNvPr id="988" name="Google Shape;988;p29"/>
          <p:cNvSpPr/>
          <p:nvPr/>
        </p:nvSpPr>
        <p:spPr>
          <a:xfrm rot="10800000">
            <a:off x="6233100" y="-50000"/>
            <a:ext cx="374100" cy="15687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 name="Google Shape;989;p29"/>
          <p:cNvGrpSpPr/>
          <p:nvPr/>
        </p:nvGrpSpPr>
        <p:grpSpPr>
          <a:xfrm>
            <a:off x="360961" y="3944139"/>
            <a:ext cx="2419430" cy="1062312"/>
            <a:chOff x="1154787" y="3798667"/>
            <a:chExt cx="2419430" cy="1062312"/>
          </a:xfrm>
        </p:grpSpPr>
        <p:grpSp>
          <p:nvGrpSpPr>
            <p:cNvPr id="990" name="Google Shape;990;p29"/>
            <p:cNvGrpSpPr/>
            <p:nvPr/>
          </p:nvGrpSpPr>
          <p:grpSpPr>
            <a:xfrm>
              <a:off x="2204945" y="4356011"/>
              <a:ext cx="251697" cy="504968"/>
              <a:chOff x="3013775" y="4188704"/>
              <a:chExt cx="288842" cy="579490"/>
            </a:xfrm>
          </p:grpSpPr>
          <p:sp>
            <p:nvSpPr>
              <p:cNvPr id="991" name="Google Shape;991;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29"/>
            <p:cNvGrpSpPr/>
            <p:nvPr/>
          </p:nvGrpSpPr>
          <p:grpSpPr>
            <a:xfrm>
              <a:off x="3285375" y="3798667"/>
              <a:ext cx="288842" cy="579490"/>
              <a:chOff x="3013775" y="4188704"/>
              <a:chExt cx="288842" cy="579490"/>
            </a:xfrm>
          </p:grpSpPr>
          <p:sp>
            <p:nvSpPr>
              <p:cNvPr id="994" name="Google Shape;994;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29"/>
            <p:cNvGrpSpPr/>
            <p:nvPr/>
          </p:nvGrpSpPr>
          <p:grpSpPr>
            <a:xfrm>
              <a:off x="1154787" y="3897155"/>
              <a:ext cx="190636" cy="382521"/>
              <a:chOff x="3013775" y="4188704"/>
              <a:chExt cx="288842" cy="579490"/>
            </a:xfrm>
          </p:grpSpPr>
          <p:sp>
            <p:nvSpPr>
              <p:cNvPr id="997" name="Google Shape;997;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6" name="Google Shape;1021;p31"/>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6607200" y="0"/>
            <a:ext cx="2527536" cy="4786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9B23-6580-FB2A-4080-AD1D25D1FE17}"/>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مقدمة </a:t>
            </a:r>
            <a:endParaRPr lang="ar-EG" b="1" u="sng" dirty="0">
              <a:solidFill>
                <a:srgbClr val="238C8F"/>
              </a:solidFill>
              <a:latin typeface="Hacen Casablanca" panose="02000000000000000000" pitchFamily="2" charset="-78"/>
              <a:cs typeface="Hacen Casablanca" panose="02000000000000000000" pitchFamily="2" charset="-78"/>
            </a:endParaRPr>
          </a:p>
        </p:txBody>
      </p:sp>
      <p:sp>
        <p:nvSpPr>
          <p:cNvPr id="3" name="TextBox 2">
            <a:extLst>
              <a:ext uri="{FF2B5EF4-FFF2-40B4-BE49-F238E27FC236}">
                <a16:creationId xmlns:a16="http://schemas.microsoft.com/office/drawing/2014/main" id="{7A770DA3-9FF9-B767-06F1-B9059FB2C53A}"/>
              </a:ext>
            </a:extLst>
          </p:cNvPr>
          <p:cNvSpPr txBox="1"/>
          <p:nvPr/>
        </p:nvSpPr>
        <p:spPr>
          <a:xfrm>
            <a:off x="1041010" y="984532"/>
            <a:ext cx="7962314" cy="584775"/>
          </a:xfrm>
          <a:prstGeom prst="rect">
            <a:avLst/>
          </a:prstGeom>
          <a:solidFill>
            <a:srgbClr val="9CC2E5"/>
          </a:solidFill>
        </p:spPr>
        <p:txBody>
          <a:bodyPr wrap="square" rtlCol="0" anchor="ctr">
            <a:spAutoFit/>
          </a:bodyPr>
          <a:lstStyle/>
          <a:p>
            <a:pPr algn="r"/>
            <a:r>
              <a:rPr lang="ar-EG" sz="1600" b="1" dirty="0"/>
              <a:t>مجموعة من تعثرات العمل التي تمت فترة سابقة يتم سردها لتعم الفائدة وزيادة الخبرة، مع ذكر الواقعة بالتفصيل والضرر الواقع وبيان اسبابه والحلول التي كان من الممكن عملها لتفادي الخطا والدروس المستفادة من التعثر</a:t>
            </a:r>
            <a:endParaRPr lang="en-US" sz="1600" b="1" dirty="0"/>
          </a:p>
        </p:txBody>
      </p:sp>
      <p:sp>
        <p:nvSpPr>
          <p:cNvPr id="11" name="TextBox 10">
            <a:extLst>
              <a:ext uri="{FF2B5EF4-FFF2-40B4-BE49-F238E27FC236}">
                <a16:creationId xmlns:a16="http://schemas.microsoft.com/office/drawing/2014/main" id="{B5A94D9F-E244-38B4-AD66-5C8758792334}"/>
              </a:ext>
            </a:extLst>
          </p:cNvPr>
          <p:cNvSpPr txBox="1"/>
          <p:nvPr/>
        </p:nvSpPr>
        <p:spPr>
          <a:xfrm>
            <a:off x="4685198" y="2916496"/>
            <a:ext cx="4373080" cy="584775"/>
          </a:xfrm>
          <a:prstGeom prst="rect">
            <a:avLst/>
          </a:prstGeom>
          <a:solidFill>
            <a:srgbClr val="9CC2E5"/>
          </a:solidFill>
        </p:spPr>
        <p:txBody>
          <a:bodyPr wrap="square" rtlCol="0" anchor="ctr">
            <a:spAutoFit/>
          </a:bodyPr>
          <a:lstStyle/>
          <a:p>
            <a:pPr algn="r"/>
            <a:r>
              <a:rPr lang="ar-EG" sz="1600" b="1" dirty="0"/>
              <a:t>استعراض الاخطاء السابقة والاستفادة منها لتجنب حدوثه مجددا وزيادة وعي الموظفين</a:t>
            </a:r>
            <a:endParaRPr lang="en-US" sz="1600" b="1" dirty="0"/>
          </a:p>
        </p:txBody>
      </p:sp>
      <p:sp>
        <p:nvSpPr>
          <p:cNvPr id="13" name="Google Shape;986;p29">
            <a:extLst>
              <a:ext uri="{FF2B5EF4-FFF2-40B4-BE49-F238E27FC236}">
                <a16:creationId xmlns:a16="http://schemas.microsoft.com/office/drawing/2014/main" id="{8466823A-EB26-E17A-87E6-E5B4E1354813}"/>
              </a:ext>
            </a:extLst>
          </p:cNvPr>
          <p:cNvSpPr txBox="1">
            <a:spLocks/>
          </p:cNvSpPr>
          <p:nvPr/>
        </p:nvSpPr>
        <p:spPr>
          <a:xfrm>
            <a:off x="6388934" y="2065256"/>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xo 2 ExtraBold"/>
              <a:buNone/>
              <a:defRPr sz="2800" b="0" i="0" u="none" strike="noStrike" cap="none">
                <a:solidFill>
                  <a:schemeClr val="dk1"/>
                </a:solidFill>
                <a:latin typeface="Exo 2 ExtraBold"/>
                <a:ea typeface="Exo 2 ExtraBold"/>
                <a:cs typeface="Exo 2 ExtraBold"/>
                <a:sym typeface="Exo 2 ExtraBold"/>
              </a:defRPr>
            </a:lvl1pPr>
            <a:lvl2pPr marR="0" lvl="1"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9pPr>
          </a:lstStyle>
          <a:p>
            <a:pPr algn="ctr"/>
            <a:r>
              <a:rPr lang="ar-SA" sz="2000" b="1" dirty="0">
                <a:solidFill>
                  <a:srgbClr val="3BA0D8"/>
                </a:solidFill>
                <a:latin typeface="Hacen Casablanca" panose="02000000000000000000" pitchFamily="2" charset="-78"/>
                <a:cs typeface="Hacen Casablanca" panose="02000000000000000000" pitchFamily="2" charset="-78"/>
              </a:rPr>
              <a:t>اهداف السجل </a:t>
            </a:r>
            <a:endParaRPr lang="ar-SA" sz="2000" dirty="0">
              <a:solidFill>
                <a:srgbClr val="3BA0D8"/>
              </a:solidFill>
              <a:latin typeface="Hacen Casablanca" panose="02000000000000000000" pitchFamily="2" charset="-78"/>
              <a:cs typeface="Hacen Casablanca" panose="02000000000000000000" pitchFamily="2" charset="-78"/>
            </a:endParaRPr>
          </a:p>
        </p:txBody>
      </p:sp>
      <p:pic>
        <p:nvPicPr>
          <p:cNvPr id="15" name="Picture 14" descr="A group of people walking on a rope&#10;&#10;Description automatically generated">
            <a:extLst>
              <a:ext uri="{FF2B5EF4-FFF2-40B4-BE49-F238E27FC236}">
                <a16:creationId xmlns:a16="http://schemas.microsoft.com/office/drawing/2014/main" id="{F7333C2A-3133-44D0-2499-42223743F6A5}"/>
              </a:ext>
            </a:extLst>
          </p:cNvPr>
          <p:cNvPicPr>
            <a:picLocks noChangeAspect="1"/>
          </p:cNvPicPr>
          <p:nvPr/>
        </p:nvPicPr>
        <p:blipFill>
          <a:blip r:embed="rId2"/>
          <a:stretch>
            <a:fillRect/>
          </a:stretch>
        </p:blipFill>
        <p:spPr>
          <a:xfrm>
            <a:off x="102107" y="1917996"/>
            <a:ext cx="4373080" cy="2782372"/>
          </a:xfrm>
          <a:prstGeom prst="rect">
            <a:avLst/>
          </a:prstGeom>
        </p:spPr>
      </p:pic>
    </p:spTree>
    <p:extLst>
      <p:ext uri="{BB962C8B-B14F-4D97-AF65-F5344CB8AC3E}">
        <p14:creationId xmlns:p14="http://schemas.microsoft.com/office/powerpoint/2010/main" val="3533272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04F3D-2716-4045-B307-F1744FF11A89}"/>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E0FB6B20-7E6F-651B-D823-838C8953D5B9}"/>
              </a:ext>
            </a:extLst>
          </p:cNvPr>
          <p:cNvGraphicFramePr>
            <a:graphicFrameLocks noGrp="1"/>
          </p:cNvGraphicFramePr>
          <p:nvPr>
            <p:extLst>
              <p:ext uri="{D42A27DB-BD31-4B8C-83A1-F6EECF244321}">
                <p14:modId xmlns:p14="http://schemas.microsoft.com/office/powerpoint/2010/main" val="3861777410"/>
              </p:ext>
            </p:extLst>
          </p:nvPr>
        </p:nvGraphicFramePr>
        <p:xfrm>
          <a:off x="4923692" y="991760"/>
          <a:ext cx="4128868" cy="3764871"/>
        </p:xfrm>
        <a:graphic>
          <a:graphicData uri="http://schemas.openxmlformats.org/drawingml/2006/table">
            <a:tbl>
              <a:tblPr firstRow="1" bandRow="1">
                <a:tableStyleId>{93296810-A885-4BE3-A3E7-6D5BEEA58F35}</a:tableStyleId>
              </a:tblPr>
              <a:tblGrid>
                <a:gridCol w="3117833">
                  <a:extLst>
                    <a:ext uri="{9D8B030D-6E8A-4147-A177-3AD203B41FA5}">
                      <a16:colId xmlns:a16="http://schemas.microsoft.com/office/drawing/2014/main" val="3314101645"/>
                    </a:ext>
                  </a:extLst>
                </a:gridCol>
                <a:gridCol w="1011035">
                  <a:extLst>
                    <a:ext uri="{9D8B030D-6E8A-4147-A177-3AD203B41FA5}">
                      <a16:colId xmlns:a16="http://schemas.microsoft.com/office/drawing/2014/main" val="2475150961"/>
                    </a:ext>
                  </a:extLst>
                </a:gridCol>
              </a:tblGrid>
              <a:tr h="581823">
                <a:tc>
                  <a:txBody>
                    <a:bodyPr/>
                    <a:lstStyle/>
                    <a:p>
                      <a:pPr algn="ctr" rtl="1" fontAlgn="ctr"/>
                      <a:r>
                        <a:rPr lang="ar-EG" sz="1200" b="0" i="0" u="none" strike="noStrike" dirty="0">
                          <a:solidFill>
                            <a:srgbClr val="000000"/>
                          </a:solidFill>
                          <a:effectLst/>
                          <a:latin typeface="Janna LT"/>
                        </a:rPr>
                        <a:t>عدم متابعة درجات حرارة المركبات من قبل المشرف بشكل دقيق</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600" b="1" i="0" u="none" strike="noStrike" cap="none" dirty="0">
                          <a:solidFill>
                            <a:schemeClr val="tx1"/>
                          </a:solidFill>
                          <a:latin typeface="+mn-lt"/>
                          <a:ea typeface="+mn-ea"/>
                          <a:cs typeface="+mn-cs"/>
                          <a:sym typeface="Arial"/>
                        </a:rPr>
                        <a:t>سبب التعثر </a:t>
                      </a:r>
                      <a:endParaRPr lang="en-US" sz="16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975156">
                <a:tc>
                  <a:txBody>
                    <a:bodyPr/>
                    <a:lstStyle/>
                    <a:p>
                      <a:pPr algn="ctr" rtl="1" fontAlgn="ctr"/>
                      <a:br>
                        <a:rPr lang="ar-EG" sz="1200" b="0" i="0" u="none" strike="noStrike" dirty="0">
                          <a:solidFill>
                            <a:srgbClr val="000000"/>
                          </a:solidFill>
                          <a:effectLst/>
                          <a:latin typeface="Janna LT"/>
                        </a:rPr>
                      </a:br>
                      <a:r>
                        <a:rPr lang="ar-EG" sz="1200" b="0" i="0" u="none" strike="noStrike" dirty="0">
                          <a:solidFill>
                            <a:srgbClr val="000000"/>
                          </a:solidFill>
                          <a:effectLst/>
                          <a:latin typeface="Janna LT"/>
                        </a:rPr>
                        <a:t>السائق لم يقوم بتركيب درجة الحرارة الصحيحة والمشرف لم يقم بمتابعة درجة الحرارة عبر منصة التتبع او عبر طلب صورة من جهاز الثلاجة لتأكيد درجة الحرارة الصحيحة</a:t>
                      </a:r>
                      <a:br>
                        <a:rPr lang="ar-EG" sz="1200" b="0" i="0" u="none" strike="noStrike" dirty="0">
                          <a:solidFill>
                            <a:srgbClr val="000000"/>
                          </a:solidFill>
                          <a:effectLst/>
                          <a:latin typeface="Janna LT"/>
                        </a:rPr>
                      </a:b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975156">
                <a:tc>
                  <a:txBody>
                    <a:bodyPr/>
                    <a:lstStyle/>
                    <a:p>
                      <a:pPr algn="ctr" rtl="1" fontAlgn="ctr"/>
                      <a:br>
                        <a:rPr lang="ar-EG" sz="1200" b="0" i="0" u="none" strike="noStrike" dirty="0">
                          <a:solidFill>
                            <a:srgbClr val="000000"/>
                          </a:solidFill>
                          <a:effectLst/>
                          <a:latin typeface="Janna LT"/>
                        </a:rPr>
                      </a:br>
                      <a:r>
                        <a:rPr lang="ar-EG" sz="1200" b="0" i="0" u="none" strike="noStrike" dirty="0">
                          <a:solidFill>
                            <a:srgbClr val="000000"/>
                          </a:solidFill>
                          <a:effectLst/>
                          <a:latin typeface="Janna LT"/>
                        </a:rPr>
                        <a:t>متابعة درجة حرارة كل مركبة عبر منصة التتبع او عبر طلب صورة من السائق لدرجة جهاز الثلاجة لمطابقة درجة الحرارة الصحيحة </a:t>
                      </a:r>
                      <a:br>
                        <a:rPr lang="ar-EG" sz="1200" b="0" i="0" u="none" strike="noStrike" dirty="0">
                          <a:solidFill>
                            <a:srgbClr val="000000"/>
                          </a:solidFill>
                          <a:effectLst/>
                          <a:latin typeface="Janna LT"/>
                        </a:rPr>
                      </a:b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644419">
                <a:tc>
                  <a:txBody>
                    <a:bodyPr/>
                    <a:lstStyle/>
                    <a:p>
                      <a:pPr algn="ctr" rtl="1" fontAlgn="ctr"/>
                      <a:r>
                        <a:rPr lang="ar-EG" sz="1200" b="0" i="0" u="none" strike="noStrike" dirty="0">
                          <a:solidFill>
                            <a:srgbClr val="000000"/>
                          </a:solidFill>
                          <a:effectLst/>
                          <a:latin typeface="Janna LT"/>
                        </a:rPr>
                        <a:t>تلف البضاعة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588317">
                <a:tc>
                  <a:txBody>
                    <a:bodyPr/>
                    <a:lstStyle/>
                    <a:p>
                      <a:pPr algn="ctr" rtl="1" fontAlgn="ctr"/>
                      <a:r>
                        <a:rPr lang="ar-EG" sz="1200" b="0" i="0" u="none" strike="noStrike" dirty="0">
                          <a:solidFill>
                            <a:srgbClr val="000000"/>
                          </a:solidFill>
                          <a:effectLst/>
                          <a:latin typeface="Janna LT"/>
                        </a:rPr>
                        <a:t>يلتزم المشرف بالمتابعة الدقيقة لسلامة الطلبات عبر طلب صورة من السائق لدرجة الجهاز فور بدء الحملة ويطابق الدرجة بشكل دوري عبر منصة التتبع</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graphicFrame>
        <p:nvGraphicFramePr>
          <p:cNvPr id="7" name="Table 5">
            <a:extLst>
              <a:ext uri="{FF2B5EF4-FFF2-40B4-BE49-F238E27FC236}">
                <a16:creationId xmlns:a16="http://schemas.microsoft.com/office/drawing/2014/main" id="{F65F760E-AC39-8014-70D5-14EF3573016B}"/>
              </a:ext>
            </a:extLst>
          </p:cNvPr>
          <p:cNvGraphicFramePr>
            <a:graphicFrameLocks noGrp="1"/>
          </p:cNvGraphicFramePr>
          <p:nvPr>
            <p:extLst>
              <p:ext uri="{D42A27DB-BD31-4B8C-83A1-F6EECF244321}">
                <p14:modId xmlns:p14="http://schemas.microsoft.com/office/powerpoint/2010/main" val="3169038000"/>
              </p:ext>
            </p:extLst>
          </p:nvPr>
        </p:nvGraphicFramePr>
        <p:xfrm>
          <a:off x="9077" y="998793"/>
          <a:ext cx="4415212" cy="3757838"/>
        </p:xfrm>
        <a:graphic>
          <a:graphicData uri="http://schemas.openxmlformats.org/drawingml/2006/table">
            <a:tbl>
              <a:tblPr firstRow="1" bandRow="1">
                <a:tableStyleId>{93296810-A885-4BE3-A3E7-6D5BEEA58F35}</a:tableStyleId>
              </a:tblPr>
              <a:tblGrid>
                <a:gridCol w="3296575">
                  <a:extLst>
                    <a:ext uri="{9D8B030D-6E8A-4147-A177-3AD203B41FA5}">
                      <a16:colId xmlns:a16="http://schemas.microsoft.com/office/drawing/2014/main" val="3314101645"/>
                    </a:ext>
                  </a:extLst>
                </a:gridCol>
                <a:gridCol w="1118637">
                  <a:extLst>
                    <a:ext uri="{9D8B030D-6E8A-4147-A177-3AD203B41FA5}">
                      <a16:colId xmlns:a16="http://schemas.microsoft.com/office/drawing/2014/main" val="2475150961"/>
                    </a:ext>
                  </a:extLst>
                </a:gridCol>
              </a:tblGrid>
              <a:tr h="623935">
                <a:tc>
                  <a:txBody>
                    <a:bodyPr/>
                    <a:lstStyle/>
                    <a:p>
                      <a:pPr algn="ctr" rtl="1" fontAlgn="ctr"/>
                      <a:r>
                        <a:rPr lang="ar-EG" sz="1200" b="0" i="0" u="none" strike="noStrike" dirty="0">
                          <a:solidFill>
                            <a:srgbClr val="000000"/>
                          </a:solidFill>
                          <a:effectLst/>
                          <a:latin typeface="Janna LT"/>
                        </a:rPr>
                        <a:t>عدم متابعة تفريغ بضائع العملاء بشكل صحيح</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ar-SA" sz="1600" b="1" dirty="0">
                          <a:solidFill>
                            <a:schemeClr val="tx1"/>
                          </a:solidFill>
                        </a:rPr>
                        <a:t>سبب التعثر </a:t>
                      </a:r>
                      <a:endParaRPr lang="en-US" sz="1600" b="1" dirty="0">
                        <a:solidFill>
                          <a:schemeClr val="tx1"/>
                        </a:solidFill>
                      </a:endParaRPr>
                    </a:p>
                  </a:txBody>
                  <a:tcPr anchor="ctr">
                    <a:solidFill>
                      <a:srgbClr val="9CC2E5"/>
                    </a:solidFill>
                  </a:tcPr>
                </a:tc>
                <a:extLst>
                  <a:ext uri="{0D108BD9-81ED-4DB2-BD59-A6C34878D82A}">
                    <a16:rowId xmlns:a16="http://schemas.microsoft.com/office/drawing/2014/main" val="2809198240"/>
                  </a:ext>
                </a:extLst>
              </a:tr>
              <a:tr h="572074">
                <a:tc>
                  <a:txBody>
                    <a:bodyPr/>
                    <a:lstStyle/>
                    <a:p>
                      <a:pPr algn="ctr" rtl="1" fontAlgn="ctr"/>
                      <a:r>
                        <a:rPr lang="ar-EG" sz="1200" b="0" i="0" u="none" strike="noStrike" dirty="0">
                          <a:solidFill>
                            <a:srgbClr val="000000"/>
                          </a:solidFill>
                          <a:effectLst/>
                          <a:latin typeface="Janna LT"/>
                        </a:rPr>
                        <a:t>المركبة كانت محملة عدة بضائع لعملاء مختلفيين ، وكل بضاعة لها فاتورة موضح فيها موقع التفريغ ، قام السائق بخلط البضائع بين اثنين من العملاء ولم يقم المشرف بمتابعة تفريغ كل بضاعة .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136312">
                <a:tc>
                  <a:txBody>
                    <a:bodyPr/>
                    <a:lstStyle/>
                    <a:p>
                      <a:pPr algn="ctr" rtl="1" fontAlgn="ctr"/>
                      <a:br>
                        <a:rPr lang="ar-EG" sz="1200" b="0" i="0" u="none" strike="noStrike" dirty="0">
                          <a:solidFill>
                            <a:srgbClr val="000000"/>
                          </a:solidFill>
                          <a:effectLst/>
                          <a:latin typeface="Janna LT"/>
                        </a:rPr>
                      </a:br>
                      <a:r>
                        <a:rPr lang="ar-EG" sz="1200" b="0" i="0" u="none" strike="noStrike" dirty="0">
                          <a:solidFill>
                            <a:srgbClr val="000000"/>
                          </a:solidFill>
                          <a:effectLst/>
                          <a:latin typeface="Janna LT"/>
                        </a:rPr>
                        <a:t>لا يتوقف عمل المشرف على نقل الطلب للسائق ومتابعة وصوله فقط ، بل يرتكز عمل المشرف على متابعة سلامة الطلبات خصوصا ان عمل الشركة في قطاع النقل المبرد والمجمد يعتمد على الجودة بمتابعة تفريغ كل بضاعة في الموقع الصحيح .</a:t>
                      </a:r>
                      <a:br>
                        <a:rPr lang="ar-EG" sz="1200" b="0" i="0" u="none" strike="noStrike" dirty="0">
                          <a:solidFill>
                            <a:srgbClr val="000000"/>
                          </a:solidFill>
                          <a:effectLst/>
                          <a:latin typeface="Janna LT"/>
                        </a:rPr>
                      </a:b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814402">
                <a:tc>
                  <a:txBody>
                    <a:bodyPr/>
                    <a:lstStyle/>
                    <a:p>
                      <a:pPr algn="ctr" rtl="1" fontAlgn="ctr"/>
                      <a:r>
                        <a:rPr lang="ar-EG" sz="1200" b="0" i="0" u="none" strike="noStrike" dirty="0">
                          <a:solidFill>
                            <a:srgbClr val="000000"/>
                          </a:solidFill>
                          <a:effectLst/>
                          <a:latin typeface="Janna LT"/>
                        </a:rPr>
                        <a:t>تلف البضاعة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611115">
                <a:tc>
                  <a:txBody>
                    <a:bodyPr/>
                    <a:lstStyle/>
                    <a:p>
                      <a:pPr algn="ctr" rtl="1" fontAlgn="ctr"/>
                      <a:r>
                        <a:rPr lang="ar-EG" sz="1200" b="0" i="0" u="none" strike="noStrike" dirty="0">
                          <a:solidFill>
                            <a:srgbClr val="000000"/>
                          </a:solidFill>
                          <a:effectLst/>
                          <a:latin typeface="Janna LT"/>
                        </a:rPr>
                        <a:t>يتأكد المشرف المباشر للحملة من استنفاذ جميع خطوات سلامة الطلبات من درجة الحرارة الصحيحة والتحميل الصحيح والتفريغ بالموقع الصحيح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166196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3209465167"/>
              </p:ext>
            </p:extLst>
          </p:nvPr>
        </p:nvGraphicFramePr>
        <p:xfrm>
          <a:off x="4712679"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534768">
                <a:tc>
                  <a:txBody>
                    <a:bodyPr/>
                    <a:lstStyle/>
                    <a:p>
                      <a:pPr algn="ctr" rtl="1" fontAlgn="ctr"/>
                      <a:r>
                        <a:rPr lang="ar-EG" sz="1100" b="0" i="0" u="none" strike="noStrike" dirty="0">
                          <a:solidFill>
                            <a:srgbClr val="000000"/>
                          </a:solidFill>
                          <a:effectLst/>
                          <a:latin typeface="Janna LT"/>
                        </a:rPr>
                        <a:t>تحميل خاطى داخل المركبة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4848">
                <a:tc>
                  <a:txBody>
                    <a:bodyPr/>
                    <a:lstStyle/>
                    <a:p>
                      <a:pPr algn="ctr" rtl="1" fontAlgn="ctr"/>
                      <a:r>
                        <a:rPr lang="ar-EG" sz="1100" b="0" i="0" u="none" strike="noStrike" dirty="0">
                          <a:solidFill>
                            <a:srgbClr val="000000"/>
                          </a:solidFill>
                          <a:effectLst/>
                          <a:latin typeface="Janna LT"/>
                        </a:rPr>
                        <a:t>تم تحميل البضاعة بشكل خاطى من قبل المستودع والسائق لم ينتبه للتحميل ولم يقم بابلاغ المشرف عن المشكلة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071268">
                <a:tc>
                  <a:txBody>
                    <a:bodyPr/>
                    <a:lstStyle/>
                    <a:p>
                      <a:pPr algn="ctr" rtl="1" fontAlgn="ctr"/>
                      <a:r>
                        <a:rPr lang="ar-EG" sz="1100" b="0" i="0" u="none" strike="noStrike" dirty="0">
                          <a:solidFill>
                            <a:srgbClr val="000000"/>
                          </a:solidFill>
                          <a:effectLst/>
                          <a:latin typeface="Janna LT"/>
                        </a:rPr>
                        <a:t>التحميل الصحيح للمركبة يبدا بانتباه السائق لتحميل المستودع على الا يزيد تحميل البضاعة عن حد التحميل الاحمر الموجود داخل الصندوق، وان تكون البضاعة مغلفة باحكام ، وتأتي الطبلية الاعلى بالخلف من الصندوق، ويقوم المشرف باستلام صورة من السائق عند تحميل كل بضاعة ولا ينطلق الا بعد اذن المشرف للتأكد من سلامة تحميل البضاعة .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54502">
                <a:tc>
                  <a:txBody>
                    <a:bodyPr/>
                    <a:lstStyle/>
                    <a:p>
                      <a:pPr algn="ctr" rtl="1" fontAlgn="ctr"/>
                      <a:r>
                        <a:rPr lang="ar-EG" sz="1100" b="0" i="0" u="none" strike="noStrike" dirty="0">
                          <a:solidFill>
                            <a:srgbClr val="000000"/>
                          </a:solidFill>
                          <a:effectLst/>
                          <a:latin typeface="Janna LT"/>
                        </a:rPr>
                        <a:t>تلف بضائع العملاء</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732060">
                <a:tc>
                  <a:txBody>
                    <a:bodyPr/>
                    <a:lstStyle/>
                    <a:p>
                      <a:pPr algn="ctr" rtl="1" fontAlgn="ctr"/>
                      <a:r>
                        <a:rPr lang="ar-EG" sz="1100" b="0" i="0" u="none" strike="noStrike" dirty="0">
                          <a:solidFill>
                            <a:srgbClr val="000000"/>
                          </a:solidFill>
                          <a:effectLst/>
                          <a:latin typeface="Janna LT"/>
                        </a:rPr>
                        <a:t>يتأكد المشرف المتابع للحملة من استنفاذ جميع خطوات سلامة الطلبات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DB5BD839-DE95-9428-439E-9BB0F115166C}"/>
              </a:ext>
            </a:extLst>
          </p:cNvPr>
          <p:cNvGraphicFramePr>
            <a:graphicFrameLocks noGrp="1"/>
          </p:cNvGraphicFramePr>
          <p:nvPr>
            <p:extLst>
              <p:ext uri="{D42A27DB-BD31-4B8C-83A1-F6EECF244321}">
                <p14:modId xmlns:p14="http://schemas.microsoft.com/office/powerpoint/2010/main" val="1414503131"/>
              </p:ext>
            </p:extLst>
          </p:nvPr>
        </p:nvGraphicFramePr>
        <p:xfrm>
          <a:off x="0"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400" b="0" i="0" u="none" strike="noStrike" dirty="0">
                          <a:solidFill>
                            <a:srgbClr val="000000"/>
                          </a:solidFill>
                          <a:effectLst/>
                          <a:latin typeface="Janna LT"/>
                        </a:rPr>
                        <a:t>عدم ارسال </a:t>
                      </a:r>
                      <a:r>
                        <a:rPr lang="ar-EG" sz="1200" b="0" i="0" u="none" strike="noStrike" cap="none" dirty="0">
                          <a:solidFill>
                            <a:srgbClr val="000000"/>
                          </a:solidFill>
                          <a:effectLst/>
                          <a:latin typeface="Janna LT"/>
                          <a:ea typeface="+mn-ea"/>
                          <a:cs typeface="+mn-cs"/>
                          <a:sym typeface="Arial"/>
                        </a:rPr>
                        <a:t>التقارير</a:t>
                      </a:r>
                      <a:r>
                        <a:rPr lang="ar-EG" sz="1400" b="0" i="0" u="none" strike="noStrike" dirty="0">
                          <a:solidFill>
                            <a:srgbClr val="000000"/>
                          </a:solidFill>
                          <a:effectLst/>
                          <a:latin typeface="Janna LT"/>
                        </a:rPr>
                        <a:t> للعملاء</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400" b="0" i="0" u="none" strike="noStrike" dirty="0">
                          <a:solidFill>
                            <a:srgbClr val="000000"/>
                          </a:solidFill>
                          <a:effectLst/>
                          <a:latin typeface="Janna LT"/>
                        </a:rPr>
                        <a:t>العميل يحتاج تقارير للتأكد من درجة الحرارة ولضمان جودة النقل</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400" b="0" i="0" u="none" strike="noStrike" dirty="0">
                          <a:solidFill>
                            <a:srgbClr val="000000"/>
                          </a:solidFill>
                          <a:effectLst/>
                          <a:latin typeface="Janna LT"/>
                        </a:rPr>
                        <a:t>يتم ارسال تقرير كل مركبة موقع ومختوم بختم الشركة الالكتروني، وفي حال كان هناك عطل في اجهزة التتبع يتم اخراج جهاز حرارة خارجي مع الحملة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ctr"/>
                      <a:r>
                        <a:rPr lang="ar-EG" sz="1400" b="0" i="0" u="none" strike="noStrike" dirty="0">
                          <a:solidFill>
                            <a:srgbClr val="000000"/>
                          </a:solidFill>
                          <a:effectLst/>
                          <a:latin typeface="Janna LT"/>
                        </a:rPr>
                        <a:t>الاضرار بجودة الشركة  -ضعف مصداقية الشركة -عدم اكتمال الخدمة-سخط العميل على الخدمة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r>
                        <a:rPr lang="ar-EG" sz="1400" b="0" i="0" u="none" strike="noStrike" dirty="0">
                          <a:solidFill>
                            <a:srgbClr val="000000"/>
                          </a:solidFill>
                          <a:effectLst/>
                          <a:latin typeface="Janna LT"/>
                        </a:rPr>
                        <a:t>يقوم المشرف بارسال تقارير درجة الحرارة لكل العملاء</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377079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2908165616"/>
              </p:ext>
            </p:extLst>
          </p:nvPr>
        </p:nvGraphicFramePr>
        <p:xfrm>
          <a:off x="4868839"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534768">
                <a:tc>
                  <a:txBody>
                    <a:bodyPr/>
                    <a:lstStyle/>
                    <a:p>
                      <a:pPr algn="ctr" rtl="1" fontAlgn="ctr"/>
                      <a:r>
                        <a:rPr lang="ar-EG" sz="1200" b="0" i="0" u="none" strike="noStrike" dirty="0">
                          <a:solidFill>
                            <a:srgbClr val="000000"/>
                          </a:solidFill>
                          <a:effectLst/>
                          <a:latin typeface="Janna LT"/>
                        </a:rPr>
                        <a:t>النوم اثناء قيادة المركبة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4848">
                <a:tc>
                  <a:txBody>
                    <a:bodyPr/>
                    <a:lstStyle/>
                    <a:p>
                      <a:pPr algn="ctr" rtl="1" fontAlgn="ctr"/>
                      <a:r>
                        <a:rPr lang="ar-EG" sz="1200" b="0" i="0" u="none" strike="noStrike" dirty="0">
                          <a:solidFill>
                            <a:srgbClr val="000000"/>
                          </a:solidFill>
                          <a:effectLst/>
                          <a:latin typeface="Janna LT"/>
                        </a:rPr>
                        <a:t>نوم السائق اثناء قيادة المركبة مما يؤدي الى تعريض سلامة السائق وسلامة البضاعة وسلامة المركبة للخطر</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071268">
                <a:tc>
                  <a:txBody>
                    <a:bodyPr/>
                    <a:lstStyle/>
                    <a:p>
                      <a:pPr algn="ctr" rtl="1" fontAlgn="ctr"/>
                      <a:r>
                        <a:rPr lang="ar-EG" sz="1200" b="0" i="0" u="none" strike="noStrike" dirty="0">
                          <a:solidFill>
                            <a:srgbClr val="000000"/>
                          </a:solidFill>
                          <a:effectLst/>
                          <a:latin typeface="Janna LT"/>
                        </a:rPr>
                        <a:t>في حال شعر السائق بالنعاس اثناء قيادة المركبة يقوم بالتوقف لاخذ قسط من الراحة ولكن ذلك لا يتم الا بعد ابلاغ المشرف المباشر، ودائما الحرص على النوم بشكل كافي قبل الخروج لتادية العمل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54502">
                <a:tc>
                  <a:txBody>
                    <a:bodyPr/>
                    <a:lstStyle/>
                    <a:p>
                      <a:pPr algn="ctr" rtl="1" fontAlgn="ctr"/>
                      <a:r>
                        <a:rPr lang="ar-EG" sz="1200" b="0" i="0" u="none" strike="noStrike" dirty="0">
                          <a:solidFill>
                            <a:srgbClr val="000000"/>
                          </a:solidFill>
                          <a:effectLst/>
                          <a:latin typeface="Janna LT"/>
                        </a:rPr>
                        <a:t>اصابة السائق -تلف المركبة -تلف البضاعة</a:t>
                      </a:r>
                      <a:br>
                        <a:rPr lang="ar-EG" sz="1200" b="0" i="0" u="none" strike="noStrike" dirty="0">
                          <a:solidFill>
                            <a:srgbClr val="000000"/>
                          </a:solidFill>
                          <a:effectLst/>
                          <a:latin typeface="Janna LT"/>
                        </a:rPr>
                      </a:b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732060">
                <a:tc>
                  <a:txBody>
                    <a:bodyPr/>
                    <a:lstStyle/>
                    <a:p>
                      <a:pPr algn="ctr" rtl="1" fontAlgn="ctr"/>
                      <a:r>
                        <a:rPr lang="ar-EG" sz="1200" b="0" i="0" u="none" strike="noStrike" dirty="0">
                          <a:solidFill>
                            <a:srgbClr val="000000"/>
                          </a:solidFill>
                          <a:effectLst/>
                          <a:latin typeface="Janna LT"/>
                        </a:rPr>
                        <a:t>النوم بشكل كافي قبل بدء العمل او ابلاغ المشرف في حال احساسه بالنعاس</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DB5BD839-DE95-9428-439E-9BB0F115166C}"/>
              </a:ext>
            </a:extLst>
          </p:cNvPr>
          <p:cNvGraphicFramePr>
            <a:graphicFrameLocks noGrp="1"/>
          </p:cNvGraphicFramePr>
          <p:nvPr>
            <p:extLst>
              <p:ext uri="{D42A27DB-BD31-4B8C-83A1-F6EECF244321}">
                <p14:modId xmlns:p14="http://schemas.microsoft.com/office/powerpoint/2010/main" val="3565789027"/>
              </p:ext>
            </p:extLst>
          </p:nvPr>
        </p:nvGraphicFramePr>
        <p:xfrm>
          <a:off x="0" y="977691"/>
          <a:ext cx="4431323" cy="3894260"/>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200" b="0" i="0" u="none" strike="noStrike" dirty="0">
                          <a:solidFill>
                            <a:srgbClr val="000000"/>
                          </a:solidFill>
                          <a:effectLst/>
                          <a:latin typeface="Janna LT"/>
                        </a:rPr>
                        <a:t>التحميل الخاطى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200" b="0" i="0" u="none" strike="noStrike" dirty="0">
                          <a:solidFill>
                            <a:srgbClr val="000000"/>
                          </a:solidFill>
                          <a:effectLst/>
                          <a:latin typeface="Janna LT"/>
                        </a:rPr>
                        <a:t>يتم تحميل البضاعة بوزن زائد وعدم انتباه السائق للتحميل</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200" b="0" i="0" u="none" strike="noStrike" dirty="0">
                          <a:solidFill>
                            <a:srgbClr val="000000"/>
                          </a:solidFill>
                          <a:effectLst/>
                          <a:latin typeface="Janna LT"/>
                        </a:rPr>
                        <a:t>يقوم السائق بارتداء القفاز الطبي وغطاء الرأس عند التحميل ، ثم يقوم باخذ صورة بعد تحميل البضاعة داخل الصندوق ويبدي ملاحظاته على الصورة  للمشرف المباشر للتأكد من صحة سلامة البضاعة ولا يقوم بالانطلاق الا بعد اخذ اذن الانطلاق من المشرف فقط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b"/>
                      <a:r>
                        <a:rPr lang="ar-EG" sz="1200" b="0" i="0" u="none" strike="noStrike" dirty="0">
                          <a:solidFill>
                            <a:srgbClr val="000000"/>
                          </a:solidFill>
                          <a:effectLst/>
                          <a:latin typeface="Janna LT"/>
                        </a:rPr>
                        <a:t> تلف البضاعة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br>
                        <a:rPr lang="ar-EG" sz="1200" b="0" i="0" u="none" strike="noStrike" dirty="0">
                          <a:solidFill>
                            <a:srgbClr val="000000"/>
                          </a:solidFill>
                          <a:effectLst/>
                          <a:latin typeface="Janna LT"/>
                        </a:rPr>
                      </a:br>
                      <a:r>
                        <a:rPr lang="ar-EG" sz="1200" b="0" i="0" u="none" strike="noStrike" dirty="0">
                          <a:solidFill>
                            <a:srgbClr val="000000"/>
                          </a:solidFill>
                          <a:effectLst/>
                          <a:latin typeface="Janna LT"/>
                        </a:rPr>
                        <a:t>مشاركة السائق لرأيه في تحميل البضاعة وابلاغ مشرفه برأيه واخذ صورة لمراجعة تحميل البضاعة مع المشرف أمر غاية بالضرورة لتفادي الاضرار الممكنة </a:t>
                      </a:r>
                      <a:br>
                        <a:rPr lang="ar-EG" sz="1200" b="0" i="0" u="none" strike="noStrike" dirty="0">
                          <a:solidFill>
                            <a:srgbClr val="000000"/>
                          </a:solidFill>
                          <a:effectLst/>
                          <a:latin typeface="Janna LT"/>
                        </a:rPr>
                      </a:b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2348843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1814818665"/>
              </p:ext>
            </p:extLst>
          </p:nvPr>
        </p:nvGraphicFramePr>
        <p:xfrm>
          <a:off x="4712677"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534768">
                <a:tc>
                  <a:txBody>
                    <a:bodyPr/>
                    <a:lstStyle/>
                    <a:p>
                      <a:pPr algn="ctr" rtl="1" fontAlgn="ctr"/>
                      <a:r>
                        <a:rPr lang="ar-EG" sz="1400" b="0" i="0" u="none" strike="noStrike" dirty="0">
                          <a:solidFill>
                            <a:srgbClr val="000000"/>
                          </a:solidFill>
                          <a:effectLst/>
                          <a:latin typeface="Janna LT"/>
                        </a:rPr>
                        <a:t>تركيب درجة حرارة غير صحيحة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4848">
                <a:tc>
                  <a:txBody>
                    <a:bodyPr/>
                    <a:lstStyle/>
                    <a:p>
                      <a:pPr algn="ctr" rtl="1" fontAlgn="ctr"/>
                      <a:r>
                        <a:rPr lang="ar-EG" sz="1400" b="0" i="0" u="none" strike="noStrike" dirty="0">
                          <a:solidFill>
                            <a:srgbClr val="000000"/>
                          </a:solidFill>
                          <a:effectLst/>
                          <a:latin typeface="Janna LT"/>
                        </a:rPr>
                        <a:t>تم ابلاغ السائق بدرجة حرارة المركبة – 18 وقام السائق بالخطا بوضع درجة + 18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071268">
                <a:tc>
                  <a:txBody>
                    <a:bodyPr/>
                    <a:lstStyle/>
                    <a:p>
                      <a:pPr algn="ctr" rtl="1" fontAlgn="ctr"/>
                      <a:r>
                        <a:rPr lang="ar-EG" sz="1400" b="0" i="0" u="none" strike="noStrike" dirty="0">
                          <a:solidFill>
                            <a:srgbClr val="000000"/>
                          </a:solidFill>
                          <a:effectLst/>
                          <a:latin typeface="Janna LT"/>
                        </a:rPr>
                        <a:t>يقوم السائق بارتداء زي نيولاين الموحد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54502">
                <a:tc>
                  <a:txBody>
                    <a:bodyPr/>
                    <a:lstStyle/>
                    <a:p>
                      <a:pPr algn="ctr" rtl="1" fontAlgn="ctr"/>
                      <a:r>
                        <a:rPr lang="ar-EG" sz="1400" b="0" i="0" u="none" strike="noStrike" dirty="0">
                          <a:solidFill>
                            <a:srgbClr val="000000"/>
                          </a:solidFill>
                          <a:effectLst/>
                          <a:latin typeface="Janna LT"/>
                        </a:rPr>
                        <a:t>صورة الشركة - عدم انضباط السائق امام عملاء الشركة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732060">
                <a:tc>
                  <a:txBody>
                    <a:bodyPr/>
                    <a:lstStyle/>
                    <a:p>
                      <a:pPr algn="ctr" rtl="1" fontAlgn="ctr"/>
                      <a:r>
                        <a:rPr lang="ar-EG" sz="1400" b="0" i="0" u="none" strike="noStrike" dirty="0">
                          <a:solidFill>
                            <a:srgbClr val="000000"/>
                          </a:solidFill>
                          <a:effectLst/>
                          <a:latin typeface="Janna LT"/>
                        </a:rPr>
                        <a:t>جزء من احترافية السائق هي التزامه بتعليمات الشركة وايضا اظهار الشركة بمنظر لائق امام عملائها من خلال نظافة المظهر الشخصي والالتزام بالزي الموحد للشركة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DB5BD839-DE95-9428-439E-9BB0F115166C}"/>
              </a:ext>
            </a:extLst>
          </p:cNvPr>
          <p:cNvGraphicFramePr>
            <a:graphicFrameLocks noGrp="1"/>
          </p:cNvGraphicFramePr>
          <p:nvPr>
            <p:extLst>
              <p:ext uri="{D42A27DB-BD31-4B8C-83A1-F6EECF244321}">
                <p14:modId xmlns:p14="http://schemas.microsoft.com/office/powerpoint/2010/main" val="3383986454"/>
              </p:ext>
            </p:extLst>
          </p:nvPr>
        </p:nvGraphicFramePr>
        <p:xfrm>
          <a:off x="0"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200" b="0" i="0" u="none" strike="noStrike" dirty="0">
                          <a:solidFill>
                            <a:srgbClr val="000000"/>
                          </a:solidFill>
                          <a:effectLst/>
                          <a:latin typeface="Janna LT"/>
                        </a:rPr>
                        <a:t> الاعتداء الجسدي بين العاملين داخل الشركة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200" b="0" i="0" u="none" strike="noStrike" dirty="0">
                          <a:solidFill>
                            <a:srgbClr val="000000"/>
                          </a:solidFill>
                          <a:effectLst/>
                          <a:latin typeface="Janna LT"/>
                        </a:rPr>
                        <a:t>قام السائق بالتشاجر مع مسؤول السكن بدون علم الشركة او الرجوع الى مديره المباشر مما ادى الى تأخير سائق عن اداء عمله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200" b="0" i="0" u="none" strike="noStrike" dirty="0">
                          <a:solidFill>
                            <a:srgbClr val="000000"/>
                          </a:solidFill>
                          <a:effectLst/>
                          <a:latin typeface="Janna LT"/>
                        </a:rPr>
                        <a:t>يقوم السائق بابلاغ مديره المباشر عن اي تشاجر يحدث مع اي زميل له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ctr"/>
                      <a:r>
                        <a:rPr lang="ar-EG" sz="1200" b="0" i="0" u="none" strike="noStrike" dirty="0">
                          <a:solidFill>
                            <a:srgbClr val="000000"/>
                          </a:solidFill>
                          <a:effectLst/>
                          <a:latin typeface="Janna LT"/>
                        </a:rPr>
                        <a:t>تأخير سائق عن اداء عمله</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r>
                        <a:rPr lang="ar-EG" sz="1200" b="0" i="0" u="none" strike="noStrike" dirty="0">
                          <a:solidFill>
                            <a:srgbClr val="000000"/>
                          </a:solidFill>
                          <a:effectLst/>
                          <a:latin typeface="Janna LT"/>
                        </a:rPr>
                        <a:t>جزء من احترافية السائق هي التزامه بتعليمات الشركة - وايضا احترام مديره المباشر بالاغه عن اي مشكلة تحدث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3959952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231833230"/>
              </p:ext>
            </p:extLst>
          </p:nvPr>
        </p:nvGraphicFramePr>
        <p:xfrm>
          <a:off x="4712677"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534768">
                <a:tc>
                  <a:txBody>
                    <a:bodyPr/>
                    <a:lstStyle/>
                    <a:p>
                      <a:pPr algn="ctr" rtl="1" fontAlgn="ctr"/>
                      <a:r>
                        <a:rPr lang="ar-EG" sz="1200" b="0" i="0" u="none" strike="noStrike" dirty="0">
                          <a:solidFill>
                            <a:srgbClr val="000000"/>
                          </a:solidFill>
                          <a:effectLst/>
                          <a:latin typeface="Janna LT"/>
                        </a:rPr>
                        <a:t>ارتداء زي غير مناسب للعمل</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4848">
                <a:tc>
                  <a:txBody>
                    <a:bodyPr/>
                    <a:lstStyle/>
                    <a:p>
                      <a:pPr algn="ctr" rtl="1" fontAlgn="ctr"/>
                      <a:r>
                        <a:rPr lang="ar-EG" sz="1200" b="0" i="0" u="none" strike="noStrike" dirty="0">
                          <a:solidFill>
                            <a:srgbClr val="000000"/>
                          </a:solidFill>
                          <a:effectLst/>
                          <a:latin typeface="Janna LT"/>
                        </a:rPr>
                        <a:t>قام السائق بارتداء زي اخر غير الزي الموحد لسائقين نيو لاين</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071268">
                <a:tc>
                  <a:txBody>
                    <a:bodyPr/>
                    <a:lstStyle/>
                    <a:p>
                      <a:pPr algn="ctr" rtl="1" fontAlgn="ctr"/>
                      <a:r>
                        <a:rPr lang="ar-EG" sz="1200" b="0" i="0" u="none" strike="noStrike" dirty="0">
                          <a:solidFill>
                            <a:srgbClr val="000000"/>
                          </a:solidFill>
                          <a:effectLst/>
                          <a:latin typeface="Janna LT"/>
                        </a:rPr>
                        <a:t>يقوم السائق بارتداء زي نيولاين الموحد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54502">
                <a:tc>
                  <a:txBody>
                    <a:bodyPr/>
                    <a:lstStyle/>
                    <a:p>
                      <a:pPr algn="ctr" rtl="1" fontAlgn="ctr"/>
                      <a:r>
                        <a:rPr lang="ar-EG" sz="1200" b="0" i="0" u="none" strike="noStrike" dirty="0">
                          <a:solidFill>
                            <a:srgbClr val="000000"/>
                          </a:solidFill>
                          <a:effectLst/>
                          <a:latin typeface="Janna LT"/>
                        </a:rPr>
                        <a:t>صورة الشركة - عدم انضباط السائق امام عملاء الشركة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732060">
                <a:tc>
                  <a:txBody>
                    <a:bodyPr/>
                    <a:lstStyle/>
                    <a:p>
                      <a:pPr algn="ctr" rtl="1" fontAlgn="ctr"/>
                      <a:r>
                        <a:rPr lang="ar-EG" sz="1200" b="0" i="0" u="none" strike="noStrike" dirty="0">
                          <a:solidFill>
                            <a:srgbClr val="000000"/>
                          </a:solidFill>
                          <a:effectLst/>
                          <a:latin typeface="Janna LT"/>
                        </a:rPr>
                        <a:t>جزء من احترافية السائق هي التزامه بتعليمات الشركة - وايضا اظهار الشركة بمنظر لائق امام عملائها من خلال نظافة المظهر الشخصي والالتزام بالزي الموحد للشركة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DB5BD839-DE95-9428-439E-9BB0F115166C}"/>
              </a:ext>
            </a:extLst>
          </p:cNvPr>
          <p:cNvGraphicFramePr>
            <a:graphicFrameLocks noGrp="1"/>
          </p:cNvGraphicFramePr>
          <p:nvPr>
            <p:extLst>
              <p:ext uri="{D42A27DB-BD31-4B8C-83A1-F6EECF244321}">
                <p14:modId xmlns:p14="http://schemas.microsoft.com/office/powerpoint/2010/main" val="4095319456"/>
              </p:ext>
            </p:extLst>
          </p:nvPr>
        </p:nvGraphicFramePr>
        <p:xfrm>
          <a:off x="0" y="977691"/>
          <a:ext cx="4431323" cy="3800337"/>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200" b="0" i="0" u="none" strike="noStrike" dirty="0">
                          <a:solidFill>
                            <a:srgbClr val="000000"/>
                          </a:solidFill>
                          <a:effectLst/>
                          <a:latin typeface="Janna LT"/>
                        </a:rPr>
                        <a:t>التصرف بممتلكات العملاء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200" b="0" i="0" u="none" strike="noStrike" dirty="0">
                          <a:solidFill>
                            <a:srgbClr val="000000"/>
                          </a:solidFill>
                          <a:effectLst/>
                          <a:latin typeface="Janna LT"/>
                        </a:rPr>
                        <a:t>قام السائق بالتصرف باحد مرتجعات العملاء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200" b="0" i="0" u="none" strike="noStrike" dirty="0">
                          <a:solidFill>
                            <a:srgbClr val="000000"/>
                          </a:solidFill>
                          <a:effectLst/>
                          <a:latin typeface="Janna LT"/>
                        </a:rPr>
                        <a:t>يقوم السائق بابلاغ مديره المباشر عن اي مرتجع مع العميل حيث يعتبر المرتجع من املاك الشركة ويعد </a:t>
                      </a:r>
                      <a:r>
                        <a:rPr lang="ar-EG" sz="1200" b="1" i="0" u="none" strike="noStrike" dirty="0">
                          <a:solidFill>
                            <a:srgbClr val="000000"/>
                          </a:solidFill>
                          <a:effectLst/>
                          <a:latin typeface="Janna LT"/>
                        </a:rPr>
                        <a:t>استخدام ممتلكات الشركة والعملاء بغرض البيع اوالايجار او الاستخدام الشخصي او غرض اخر من المخالفات الكبيرة التي تستوجب الفصل </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ctr"/>
                      <a:r>
                        <a:rPr lang="ar-EG" sz="1200" b="0" i="0" u="none" strike="noStrike" dirty="0">
                          <a:solidFill>
                            <a:srgbClr val="000000"/>
                          </a:solidFill>
                          <a:effectLst/>
                          <a:latin typeface="Janna LT"/>
                        </a:rPr>
                        <a:t>خسارة الشركة لاحد مرتجعات العملاء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r>
                        <a:rPr lang="ar-EG" sz="1200" b="0" i="0" u="none" strike="noStrike" dirty="0">
                          <a:solidFill>
                            <a:srgbClr val="000000"/>
                          </a:solidFill>
                          <a:effectLst/>
                          <a:latin typeface="Janna LT"/>
                        </a:rPr>
                        <a:t>جزء من احترافية السائق هي التزامه بتعليمات الشركة وابلاغ المشرف عن جميع المعلومات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3531720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2631910662"/>
              </p:ext>
            </p:extLst>
          </p:nvPr>
        </p:nvGraphicFramePr>
        <p:xfrm>
          <a:off x="4712677"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534768">
                <a:tc>
                  <a:txBody>
                    <a:bodyPr/>
                    <a:lstStyle/>
                    <a:p>
                      <a:pPr algn="ctr" rtl="1" fontAlgn="ctr"/>
                      <a:r>
                        <a:rPr lang="ar-EG" sz="1200" b="0" i="0" u="none" strike="noStrike" dirty="0">
                          <a:solidFill>
                            <a:srgbClr val="000000"/>
                          </a:solidFill>
                          <a:effectLst/>
                          <a:latin typeface="Janna LT"/>
                        </a:rPr>
                        <a:t>حمل الالات الحادة داخل المركبة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4848">
                <a:tc>
                  <a:txBody>
                    <a:bodyPr/>
                    <a:lstStyle/>
                    <a:p>
                      <a:pPr algn="ctr" rtl="1" fontAlgn="ctr"/>
                      <a:r>
                        <a:rPr lang="ar-EG" sz="1200" b="0" i="0" u="none" strike="noStrike" dirty="0">
                          <a:solidFill>
                            <a:srgbClr val="000000"/>
                          </a:solidFill>
                          <a:effectLst/>
                          <a:latin typeface="Janna LT"/>
                        </a:rPr>
                        <a:t>قام السائق بحمل الالات حادة معه داخل المركبة بغرض الاكل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071268">
                <a:tc>
                  <a:txBody>
                    <a:bodyPr/>
                    <a:lstStyle/>
                    <a:p>
                      <a:pPr algn="ctr" rtl="1" fontAlgn="ctr"/>
                      <a:r>
                        <a:rPr lang="ar-EG" sz="1200" b="0" i="0" u="none" strike="noStrike" dirty="0">
                          <a:solidFill>
                            <a:srgbClr val="000000"/>
                          </a:solidFill>
                          <a:effectLst/>
                          <a:latin typeface="Janna LT"/>
                        </a:rPr>
                        <a:t>حسب النظام ولائحة المخالفات الداخلية يعد استعمال الات ومعدات وادوات الشركة لاغراض خاصة بدون اذن ممنوعا ومن المخالفات المتوسطة التي تسوجب حرمان السائق من المكافئة الشهرية لمدة ثلاث اشهر واجراءت اخرى على حسب المخالفة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54502">
                <a:tc>
                  <a:txBody>
                    <a:bodyPr/>
                    <a:lstStyle/>
                    <a:p>
                      <a:pPr algn="ctr" rtl="1" fontAlgn="ctr"/>
                      <a:r>
                        <a:rPr lang="ar-EG" sz="1200" b="0" i="0" u="none" strike="noStrike" dirty="0">
                          <a:solidFill>
                            <a:srgbClr val="000000"/>
                          </a:solidFill>
                          <a:effectLst/>
                          <a:latin typeface="Janna LT"/>
                        </a:rPr>
                        <a:t>منع السائق من الدخول لدى العميل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732060">
                <a:tc>
                  <a:txBody>
                    <a:bodyPr/>
                    <a:lstStyle/>
                    <a:p>
                      <a:pPr algn="ctr" rtl="1" fontAlgn="ctr"/>
                      <a:r>
                        <a:rPr lang="ar-EG" sz="1200" b="0" i="0" u="none" strike="noStrike" dirty="0">
                          <a:solidFill>
                            <a:srgbClr val="000000"/>
                          </a:solidFill>
                          <a:effectLst/>
                          <a:latin typeface="Janna LT"/>
                        </a:rPr>
                        <a:t>يمنع استخدام وحمل الادوات الحادة داخل المركبة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DB5BD839-DE95-9428-439E-9BB0F115166C}"/>
              </a:ext>
            </a:extLst>
          </p:cNvPr>
          <p:cNvGraphicFramePr>
            <a:graphicFrameLocks noGrp="1"/>
          </p:cNvGraphicFramePr>
          <p:nvPr>
            <p:extLst>
              <p:ext uri="{D42A27DB-BD31-4B8C-83A1-F6EECF244321}">
                <p14:modId xmlns:p14="http://schemas.microsoft.com/office/powerpoint/2010/main" val="3475515482"/>
              </p:ext>
            </p:extLst>
          </p:nvPr>
        </p:nvGraphicFramePr>
        <p:xfrm>
          <a:off x="0" y="977691"/>
          <a:ext cx="4431323" cy="3800337"/>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200" b="0" i="0" u="none" strike="noStrike" dirty="0">
                          <a:solidFill>
                            <a:srgbClr val="000000"/>
                          </a:solidFill>
                          <a:effectLst/>
                          <a:latin typeface="Janna LT"/>
                        </a:rPr>
                        <a:t>اهمال مراجعة صيانة المركبة قبل بدء العمل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200" b="0" i="0" u="none" strike="noStrike" dirty="0">
                          <a:solidFill>
                            <a:srgbClr val="000000"/>
                          </a:solidFill>
                          <a:effectLst/>
                          <a:latin typeface="Janna LT"/>
                        </a:rPr>
                        <a:t>لم يقوم السائق بمراجعة المركبة قبل بدء العمل</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200" b="0" i="0" u="none" strike="noStrike" dirty="0">
                          <a:solidFill>
                            <a:srgbClr val="000000"/>
                          </a:solidFill>
                          <a:effectLst/>
                          <a:latin typeface="Janna LT"/>
                        </a:rPr>
                        <a:t>يتم فحص المركبات بوقت كافي قبل بدء العمل والتأكد من   (زيت المكينة -الثلاجة-الاطارات - ماء الردايتر - الانوار الجانبية ادوات السلامة) التاكد من تواجد ادوات الصحة والوقاية في المركبة يضم ذلك : المعقم - القلفز الطبي - غطاء الراس</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ctr"/>
                      <a:r>
                        <a:rPr lang="ar-EG" sz="1200" b="0" i="0" u="none" strike="noStrike" dirty="0">
                          <a:solidFill>
                            <a:srgbClr val="000000"/>
                          </a:solidFill>
                          <a:effectLst/>
                          <a:latin typeface="Janna LT"/>
                        </a:rPr>
                        <a:t>تعطل المركبة اثناء العمل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r>
                        <a:rPr lang="ar-EG" sz="1200" b="0" i="0" u="none" strike="noStrike" dirty="0">
                          <a:solidFill>
                            <a:srgbClr val="000000"/>
                          </a:solidFill>
                          <a:effectLst/>
                          <a:latin typeface="Janna LT"/>
                        </a:rPr>
                        <a:t>التأكد من مراجعة المركبة بوقت كافي قبل بدء العمل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3529033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3879707205"/>
              </p:ext>
            </p:extLst>
          </p:nvPr>
        </p:nvGraphicFramePr>
        <p:xfrm>
          <a:off x="4712677"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534768">
                <a:tc>
                  <a:txBody>
                    <a:bodyPr/>
                    <a:lstStyle/>
                    <a:p>
                      <a:pPr algn="ctr" rtl="1" fontAlgn="ctr"/>
                      <a:r>
                        <a:rPr lang="ar-EG" sz="1200" b="0" i="0" u="none" strike="noStrike" dirty="0">
                          <a:solidFill>
                            <a:srgbClr val="000000"/>
                          </a:solidFill>
                          <a:effectLst/>
                          <a:latin typeface="Janna LT"/>
                        </a:rPr>
                        <a:t>اصدار وثيقة النقل بشكل خاطى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4848">
                <a:tc>
                  <a:txBody>
                    <a:bodyPr/>
                    <a:lstStyle/>
                    <a:p>
                      <a:pPr algn="ctr" rtl="1" fontAlgn="ctr"/>
                      <a:r>
                        <a:rPr lang="ar-EG" sz="1200" b="0" i="0" u="none" strike="noStrike" dirty="0">
                          <a:solidFill>
                            <a:srgbClr val="000000"/>
                          </a:solidFill>
                          <a:effectLst/>
                          <a:latin typeface="Janna LT"/>
                        </a:rPr>
                        <a:t>كتابة احرف اللوحة في وثيقة نقل بشكل خاطى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1071268">
                <a:tc>
                  <a:txBody>
                    <a:bodyPr/>
                    <a:lstStyle/>
                    <a:p>
                      <a:pPr algn="ctr" rtl="1" fontAlgn="ctr"/>
                      <a:r>
                        <a:rPr lang="ar-EG" sz="1200" b="0" i="0" u="none" strike="noStrike" dirty="0">
                          <a:solidFill>
                            <a:srgbClr val="000000"/>
                          </a:solidFill>
                          <a:effectLst/>
                          <a:latin typeface="Janna LT"/>
                        </a:rPr>
                        <a:t>التأكد من صحة جميع المعلومات المسجلة في وثيقة النقل قبل اصدراها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54502">
                <a:tc>
                  <a:txBody>
                    <a:bodyPr/>
                    <a:lstStyle/>
                    <a:p>
                      <a:pPr algn="ctr" rtl="1" fontAlgn="ctr"/>
                      <a:r>
                        <a:rPr lang="ar-EG" sz="1200" b="0" i="0" u="none" strike="noStrike" dirty="0">
                          <a:solidFill>
                            <a:srgbClr val="000000"/>
                          </a:solidFill>
                          <a:effectLst/>
                          <a:latin typeface="Janna LT"/>
                        </a:rPr>
                        <a:t>تعرض الشركة لمخالفة عدم وجود وثيقة نقل بمبلغ 5000 ريال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732060">
                <a:tc>
                  <a:txBody>
                    <a:bodyPr/>
                    <a:lstStyle/>
                    <a:p>
                      <a:pPr algn="ctr" rtl="1" fontAlgn="ctr"/>
                      <a:r>
                        <a:rPr lang="ar-EG" sz="1200" b="0" i="0" u="none" strike="noStrike" dirty="0">
                          <a:solidFill>
                            <a:srgbClr val="000000"/>
                          </a:solidFill>
                          <a:effectLst/>
                          <a:latin typeface="Janna LT"/>
                        </a:rPr>
                        <a:t>عدم اصدار وثيقة النقل قبل التأكد من جميع المعلومات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التشغيل </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4" name="Table 5">
            <a:extLst>
              <a:ext uri="{FF2B5EF4-FFF2-40B4-BE49-F238E27FC236}">
                <a16:creationId xmlns:a16="http://schemas.microsoft.com/office/drawing/2014/main" id="{B0ADF56B-7159-F7B1-7172-E3ECE743FA0C}"/>
              </a:ext>
            </a:extLst>
          </p:cNvPr>
          <p:cNvGraphicFramePr>
            <a:graphicFrameLocks noGrp="1"/>
          </p:cNvGraphicFramePr>
          <p:nvPr>
            <p:extLst>
              <p:ext uri="{D42A27DB-BD31-4B8C-83A1-F6EECF244321}">
                <p14:modId xmlns:p14="http://schemas.microsoft.com/office/powerpoint/2010/main" val="2190130007"/>
              </p:ext>
            </p:extLst>
          </p:nvPr>
        </p:nvGraphicFramePr>
        <p:xfrm>
          <a:off x="0"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200" b="0" i="0" u="none" strike="noStrike" dirty="0">
                          <a:solidFill>
                            <a:srgbClr val="000000"/>
                          </a:solidFill>
                          <a:effectLst/>
                          <a:latin typeface="Janna LT"/>
                        </a:rPr>
                        <a:t>ايقاف المركبة بشكل خاطى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200" b="0" i="0" u="none" strike="noStrike" dirty="0">
                          <a:solidFill>
                            <a:srgbClr val="000000"/>
                          </a:solidFill>
                          <a:effectLst/>
                          <a:latin typeface="Janna LT"/>
                        </a:rPr>
                        <a:t>تم ايقاف المركبة بشكل خاطى اثناء تعطلها على الطريق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200" b="0" i="0" u="none" strike="noStrike" dirty="0">
                          <a:solidFill>
                            <a:srgbClr val="000000"/>
                          </a:solidFill>
                          <a:effectLst/>
                          <a:latin typeface="Janna LT"/>
                        </a:rPr>
                        <a:t>يتم وضع مثلث السلامة وضغط الفلشر واختيار مكان صحيح للايقاف قبل التوقف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ctr"/>
                      <a:r>
                        <a:rPr lang="ar-EG" sz="1200" b="0" i="0" u="none" strike="noStrike" dirty="0">
                          <a:solidFill>
                            <a:srgbClr val="000000"/>
                          </a:solidFill>
                          <a:effectLst/>
                          <a:latin typeface="Janna LT"/>
                        </a:rPr>
                        <a:t>وقوع حادث على المركبة وتعرض السائق لاصأبة بسبب الموقف</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r>
                        <a:rPr lang="ar-EG" sz="1200" b="0" i="0" u="none" strike="noStrike" dirty="0">
                          <a:solidFill>
                            <a:srgbClr val="000000"/>
                          </a:solidFill>
                          <a:effectLst/>
                          <a:latin typeface="Janna LT"/>
                        </a:rPr>
                        <a:t>ايقاف المركبة بشكل صحيح</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210300779"/>
      </p:ext>
    </p:extLst>
  </p:cSld>
  <p:clrMapOvr>
    <a:masterClrMapping/>
  </p:clrMapOvr>
</p:sld>
</file>

<file path=ppt/theme/theme1.xml><?xml version="1.0" encoding="utf-8"?>
<a:theme xmlns:a="http://schemas.openxmlformats.org/drawingml/2006/main" name="Logistics Warehouse Marketing Plan by Slidesgo">
  <a:themeElements>
    <a:clrScheme name="Simple Light">
      <a:dk1>
        <a:srgbClr val="595959"/>
      </a:dk1>
      <a:lt1>
        <a:srgbClr val="708C61"/>
      </a:lt1>
      <a:dk2>
        <a:srgbClr val="EEEEEE"/>
      </a:dk2>
      <a:lt2>
        <a:srgbClr val="C7C5C5"/>
      </a:lt2>
      <a:accent1>
        <a:srgbClr val="9E9E9E"/>
      </a:accent1>
      <a:accent2>
        <a:srgbClr val="B29B53"/>
      </a:accent2>
      <a:accent3>
        <a:srgbClr val="FFFFFF"/>
      </a:accent3>
      <a:accent4>
        <a:srgbClr val="FFFFFF"/>
      </a:accent4>
      <a:accent5>
        <a:srgbClr val="FFFFFF"/>
      </a:accent5>
      <a:accent6>
        <a:srgbClr val="FFFFFF"/>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TotalTime>
  <Words>1152</Words>
  <Application>Microsoft Office PowerPoint</Application>
  <PresentationFormat>On-screen Show (16:9)</PresentationFormat>
  <Paragraphs>152</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Hacen Casablanca</vt:lpstr>
      <vt:lpstr>Exo 2 ExtraBold</vt:lpstr>
      <vt:lpstr>Raleway</vt:lpstr>
      <vt:lpstr>Arial</vt:lpstr>
      <vt:lpstr>Janna LT</vt:lpstr>
      <vt:lpstr>Exo 2</vt:lpstr>
      <vt:lpstr>Logistics Warehouse Marketing Plan by Slidesgo</vt:lpstr>
      <vt:lpstr>سجل التعثرات </vt:lpstr>
      <vt:lpstr>مقدمة </vt:lpstr>
      <vt:lpstr>التشغيل </vt:lpstr>
      <vt:lpstr>التشغيل </vt:lpstr>
      <vt:lpstr>التشغيل </vt:lpstr>
      <vt:lpstr>التشغيل </vt:lpstr>
      <vt:lpstr>التشغيل </vt:lpstr>
      <vt:lpstr>التشغيل </vt:lpstr>
      <vt:lpstr>التشغيل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نيو لاين  للخدمات اللوجيستية   </dc:title>
  <cp:lastModifiedBy>mohamed fathe</cp:lastModifiedBy>
  <cp:revision>31</cp:revision>
  <dcterms:modified xsi:type="dcterms:W3CDTF">2023-08-22T10:48:53Z</dcterms:modified>
</cp:coreProperties>
</file>